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5" r:id="rId9"/>
    <p:sldId id="276" r:id="rId10"/>
    <p:sldId id="266" r:id="rId11"/>
    <p:sldId id="262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6256000" cy="9144000"/>
  <p:notesSz cx="9144000" cy="16256000"/>
  <p:embeddedFontLst>
    <p:embeddedFont>
      <p:font typeface="Liter" panose="020B0604020202020204" charset="0"/>
      <p:regular r:id="rId23"/>
    </p:embeddedFont>
    <p:embeddedFont>
      <p:font typeface="Quattrocento Sans" panose="020B0502050000020003" pitchFamily="34" charset="0"/>
      <p:regular r:id="rId24"/>
      <p:bold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6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zmvkr6r67x4wk/mnt/agents/output/phishshield/images/5_Guard_shield_Cyber_security_concept.png"/>
          <p:cNvPicPr>
            <a:picLocks noChangeAspect="1"/>
          </p:cNvPicPr>
          <p:nvPr/>
        </p:nvPicPr>
        <p:blipFill>
          <a:blip r:embed="rId5"/>
          <a:srcRect l="10000" r="10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51821">
                  <a:alpha val="60000"/>
                </a:srgbClr>
              </a:gs>
              <a:gs pos="50000">
                <a:srgbClr val="151821">
                  <a:alpha val="80000"/>
                </a:srgbClr>
              </a:gs>
              <a:gs pos="100000">
                <a:srgbClr val="151821">
                  <a:alpha val="94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7493000" y="1905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635000" y="0"/>
                </a:moveTo>
                <a:cubicBezTo>
                  <a:pt x="646410" y="0"/>
                  <a:pt x="657820" y="2480"/>
                  <a:pt x="668238" y="7193"/>
                </a:cubicBezTo>
                <a:lnTo>
                  <a:pt x="1135559" y="205383"/>
                </a:lnTo>
                <a:cubicBezTo>
                  <a:pt x="1190129" y="228451"/>
                  <a:pt x="1230809" y="282277"/>
                  <a:pt x="1230561" y="347266"/>
                </a:cubicBezTo>
                <a:cubicBezTo>
                  <a:pt x="1229320" y="593328"/>
                  <a:pt x="1128117" y="1043533"/>
                  <a:pt x="700732" y="1248172"/>
                </a:cubicBezTo>
                <a:cubicBezTo>
                  <a:pt x="659309" y="1268016"/>
                  <a:pt x="611188" y="1268016"/>
                  <a:pt x="569764" y="1248172"/>
                </a:cubicBezTo>
                <a:cubicBezTo>
                  <a:pt x="142131" y="1043533"/>
                  <a:pt x="41176" y="593328"/>
                  <a:pt x="39936" y="347266"/>
                </a:cubicBezTo>
                <a:cubicBezTo>
                  <a:pt x="39687" y="282277"/>
                  <a:pt x="80367" y="228451"/>
                  <a:pt x="134937" y="205383"/>
                </a:cubicBezTo>
                <a:lnTo>
                  <a:pt x="602010" y="7193"/>
                </a:lnTo>
                <a:cubicBezTo>
                  <a:pt x="612428" y="2480"/>
                  <a:pt x="623590" y="0"/>
                  <a:pt x="635000" y="0"/>
                </a:cubicBezTo>
                <a:close/>
                <a:moveTo>
                  <a:pt x="635000" y="165695"/>
                </a:moveTo>
                <a:lnTo>
                  <a:pt x="635000" y="1103561"/>
                </a:lnTo>
                <a:cubicBezTo>
                  <a:pt x="977305" y="937865"/>
                  <a:pt x="1069330" y="570756"/>
                  <a:pt x="1071563" y="350986"/>
                </a:cubicBezTo>
                <a:lnTo>
                  <a:pt x="635000" y="165943"/>
                </a:lnTo>
                <a:lnTo>
                  <a:pt x="635000" y="165943"/>
                </a:lnTo>
                <a:close/>
              </a:path>
            </a:pathLst>
          </a:custGeom>
          <a:solidFill>
            <a:srgbClr val="E85D3F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497455" y="3175000"/>
            <a:ext cx="11980545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kern="0" spc="300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PHISHSHIELD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3682365" y="3937000"/>
            <a:ext cx="9525635" cy="63436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kern="0" spc="200" dirty="0">
                <a:solidFill>
                  <a:srgbClr val="E85D3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PHISHING </a:t>
            </a:r>
            <a:r>
              <a:rPr lang="en-US" sz="2200" kern="0" spc="200" dirty="0">
                <a:solidFill>
                  <a:srgbClr val="E85D3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  <a:sym typeface="+mn-ea"/>
              </a:rPr>
              <a:t>EMAIL </a:t>
            </a:r>
            <a:r>
              <a:rPr lang="en-US" sz="2200" kern="0" spc="200" dirty="0">
                <a:solidFill>
                  <a:srgbClr val="E85D3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DETECTION SYSTEM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21945" y="5333365"/>
            <a:ext cx="7171055" cy="33286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endParaRPr lang="en-US" sz="1800" dirty="0"/>
          </a:p>
        </p:txBody>
      </p:sp>
      <p:graphicFrame>
        <p:nvGraphicFramePr>
          <p:cNvPr id="9" name="Table 8"/>
          <p:cNvGraphicFramePr/>
          <p:nvPr>
            <p:custDataLst>
              <p:tags r:id="rId1"/>
            </p:custDataLst>
          </p:nvPr>
        </p:nvGraphicFramePr>
        <p:xfrm>
          <a:off x="2438400" y="266065"/>
          <a:ext cx="11379835" cy="1467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79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67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>
                          <a:gradFill>
                            <a:gsLst>
                              <a:gs pos="50000">
                                <a:schemeClr val="accent2"/>
                              </a:gs>
                              <a:gs pos="0">
                                <a:schemeClr val="accent2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accent2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</a:rPr>
                        <a:t>   UNIVERSITY OF FRONTIER TECHNOLOGY, BANGLADESH</a:t>
                      </a:r>
                    </a:p>
                    <a:p>
                      <a:pPr>
                        <a:buNone/>
                      </a:pPr>
                      <a:r>
                        <a:rPr lang="en-US" sz="3600">
                          <a:gradFill>
                            <a:gsLst>
                              <a:gs pos="50000">
                                <a:schemeClr val="accent2"/>
                              </a:gs>
                              <a:gs pos="0">
                                <a:schemeClr val="accent2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accent2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</a:rPr>
                        <a:t>         </a:t>
                      </a:r>
                      <a:r>
                        <a:rPr lang="en-US" sz="3200">
                          <a:gradFill>
                            <a:gsLst>
                              <a:gs pos="50000">
                                <a:schemeClr val="accent2"/>
                              </a:gs>
                              <a:gs pos="0">
                                <a:schemeClr val="accent2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accent2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</a:rPr>
                        <a:t>           </a:t>
                      </a:r>
                      <a:r>
                        <a:rPr lang="en-US" sz="3200">
                          <a:solidFill>
                            <a:schemeClr val="accent4"/>
                          </a:solidFill>
                        </a:rPr>
                        <a:t>Department of Cyber Security Engineering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/>
          <p:nvPr/>
        </p:nvGraphicFramePr>
        <p:xfrm>
          <a:off x="622935" y="6196330"/>
          <a:ext cx="6449060" cy="2767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49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67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Presented by,</a:t>
                      </a:r>
                    </a:p>
                    <a:p>
                      <a:pPr>
                        <a:buNone/>
                      </a:pPr>
                      <a:endParaRPr lang="en-US" sz="2800" b="1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Mst. Fariya Mazumder  Tisha(2404017)</a:t>
                      </a:r>
                    </a:p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Sabeda Afrin(2404018)</a:t>
                      </a:r>
                    </a:p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Dept. of Cyber Security Engineering,UFTB</a:t>
                      </a:r>
                    </a:p>
                    <a:p>
                      <a:pPr>
                        <a:buNone/>
                      </a:pPr>
                      <a:endParaRPr lang="en-US" sz="280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/>
          <p:nvPr/>
        </p:nvGraphicFramePr>
        <p:xfrm>
          <a:off x="9050020" y="6196965"/>
          <a:ext cx="7179945" cy="2465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79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65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Presented to,</a:t>
                      </a:r>
                    </a:p>
                    <a:p>
                      <a:pPr>
                        <a:buNone/>
                      </a:pPr>
                      <a:endParaRPr lang="en-US" sz="2800" b="1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sz="2800" b="1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           Md. Masud Rana</a:t>
                      </a:r>
                    </a:p>
                    <a:p>
                      <a:pPr>
                        <a:buNone/>
                      </a:pPr>
                      <a:r>
                        <a:rPr lang="en-US" sz="2800" b="1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           Lecturer,</a:t>
                      </a:r>
                    </a:p>
                    <a:p>
                      <a:pPr>
                        <a:buNone/>
                      </a:pPr>
                      <a:r>
                        <a:rPr lang="en-US" sz="2800" b="1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           Dept. of Cyber Security Engineering,UFTB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Picture 6" descr="logone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4235" y="11430"/>
            <a:ext cx="1421765" cy="15036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7620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100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What is Phishing?</a:t>
            </a:r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8890000" cy="3556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6" name="Text 4"/>
          <p:cNvSpPr/>
          <p:nvPr/>
        </p:nvSpPr>
        <p:spPr>
          <a:xfrm>
            <a:off x="762000" y="1744345"/>
            <a:ext cx="8939530" cy="36410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600" dirty="0">
                <a:solidFill>
                  <a:srgbClr val="E85D3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■</a:t>
            </a:r>
            <a:r>
              <a:rPr lang="en-US" sz="2600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Phishing is a </a:t>
            </a:r>
            <a:r>
              <a:rPr lang="en-US" sz="2600" b="1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cyber attack</a:t>
            </a:r>
            <a:r>
              <a:rPr lang="en-US" sz="2600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using fake emails to deceive users.</a:t>
            </a:r>
            <a:endParaRPr lang="en-US" sz="26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600" dirty="0">
                <a:solidFill>
                  <a:srgbClr val="E85D3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■</a:t>
            </a:r>
            <a:r>
              <a:rPr lang="en-US" sz="2600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Attackers try to steal </a:t>
            </a:r>
            <a:r>
              <a:rPr lang="en-US" sz="2600" b="1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sensitive information</a:t>
            </a:r>
            <a:r>
              <a:rPr lang="en-US" sz="2600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like passwords and financial data.</a:t>
            </a:r>
            <a:endParaRPr lang="en-US" sz="26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600" dirty="0">
                <a:solidFill>
                  <a:srgbClr val="E85D3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■</a:t>
            </a:r>
            <a:r>
              <a:rPr lang="en-US" sz="2600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Users often </a:t>
            </a:r>
            <a:r>
              <a:rPr lang="en-US" sz="2600" b="1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cannot identify</a:t>
            </a:r>
            <a:r>
              <a:rPr lang="en-US" sz="2600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malicious emails from legitimate ones.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2049760" y="1744345"/>
            <a:ext cx="2032635" cy="206502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762000" y="100905"/>
                </a:moveTo>
                <a:lnTo>
                  <a:pt x="255058" y="523280"/>
                </a:lnTo>
                <a:lnTo>
                  <a:pt x="673365" y="872133"/>
                </a:lnTo>
                <a:cubicBezTo>
                  <a:pt x="687388" y="883741"/>
                  <a:pt x="702998" y="892671"/>
                  <a:pt x="719667" y="898029"/>
                </a:cubicBezTo>
                <a:lnTo>
                  <a:pt x="719667" y="1381125"/>
                </a:lnTo>
                <a:cubicBezTo>
                  <a:pt x="719667" y="1397496"/>
                  <a:pt x="720990" y="1413272"/>
                  <a:pt x="723106" y="1428750"/>
                </a:cubicBezTo>
                <a:lnTo>
                  <a:pt x="254000" y="1428750"/>
                </a:lnTo>
                <a:cubicBezTo>
                  <a:pt x="160602" y="1428750"/>
                  <a:pt x="84667" y="1343323"/>
                  <a:pt x="84667" y="1238250"/>
                </a:cubicBezTo>
                <a:lnTo>
                  <a:pt x="84667" y="524173"/>
                </a:lnTo>
                <a:cubicBezTo>
                  <a:pt x="84667" y="463748"/>
                  <a:pt x="110067" y="406896"/>
                  <a:pt x="153194" y="371177"/>
                </a:cubicBezTo>
                <a:lnTo>
                  <a:pt x="673365" y="-62508"/>
                </a:lnTo>
                <a:cubicBezTo>
                  <a:pt x="699029" y="-83939"/>
                  <a:pt x="729985" y="-95250"/>
                  <a:pt x="762000" y="-95250"/>
                </a:cubicBezTo>
                <a:cubicBezTo>
                  <a:pt x="794015" y="-95250"/>
                  <a:pt x="824971" y="-83641"/>
                  <a:pt x="850635" y="-62508"/>
                </a:cubicBezTo>
                <a:lnTo>
                  <a:pt x="1370806" y="371177"/>
                </a:lnTo>
                <a:cubicBezTo>
                  <a:pt x="1389856" y="386953"/>
                  <a:pt x="1405467" y="406896"/>
                  <a:pt x="1416844" y="429518"/>
                </a:cubicBezTo>
                <a:cubicBezTo>
                  <a:pt x="1410229" y="428923"/>
                  <a:pt x="1403615" y="428625"/>
                  <a:pt x="1397000" y="428625"/>
                </a:cubicBezTo>
                <a:lnTo>
                  <a:pt x="1155171" y="428625"/>
                </a:lnTo>
                <a:lnTo>
                  <a:pt x="762000" y="100905"/>
                </a:lnTo>
                <a:close/>
                <a:moveTo>
                  <a:pt x="846667" y="714375"/>
                </a:moveTo>
                <a:cubicBezTo>
                  <a:pt x="846667" y="635496"/>
                  <a:pt x="903552" y="571500"/>
                  <a:pt x="973667" y="571500"/>
                </a:cubicBezTo>
                <a:lnTo>
                  <a:pt x="1397000" y="571500"/>
                </a:lnTo>
                <a:cubicBezTo>
                  <a:pt x="1467115" y="571500"/>
                  <a:pt x="1524000" y="635496"/>
                  <a:pt x="1524000" y="714375"/>
                </a:cubicBezTo>
                <a:lnTo>
                  <a:pt x="1524000" y="1381125"/>
                </a:lnTo>
                <a:cubicBezTo>
                  <a:pt x="1524000" y="1460004"/>
                  <a:pt x="1467115" y="1524000"/>
                  <a:pt x="1397000" y="1524000"/>
                </a:cubicBezTo>
                <a:lnTo>
                  <a:pt x="973667" y="1524000"/>
                </a:lnTo>
                <a:cubicBezTo>
                  <a:pt x="903552" y="1524000"/>
                  <a:pt x="846667" y="1460004"/>
                  <a:pt x="846667" y="1381125"/>
                </a:cubicBezTo>
                <a:lnTo>
                  <a:pt x="846667" y="714375"/>
                </a:lnTo>
                <a:close/>
                <a:moveTo>
                  <a:pt x="1058333" y="762000"/>
                </a:moveTo>
                <a:cubicBezTo>
                  <a:pt x="1023144" y="762000"/>
                  <a:pt x="994833" y="793849"/>
                  <a:pt x="994833" y="833438"/>
                </a:cubicBezTo>
                <a:cubicBezTo>
                  <a:pt x="994833" y="873026"/>
                  <a:pt x="1023144" y="904875"/>
                  <a:pt x="1058333" y="904875"/>
                </a:cubicBezTo>
                <a:lnTo>
                  <a:pt x="1312333" y="904875"/>
                </a:lnTo>
                <a:cubicBezTo>
                  <a:pt x="1347523" y="904875"/>
                  <a:pt x="1375833" y="873026"/>
                  <a:pt x="1375833" y="833438"/>
                </a:cubicBezTo>
                <a:cubicBezTo>
                  <a:pt x="1375833" y="793849"/>
                  <a:pt x="1347523" y="762000"/>
                  <a:pt x="1312333" y="762000"/>
                </a:cubicBezTo>
                <a:lnTo>
                  <a:pt x="1058333" y="762000"/>
                </a:lnTo>
                <a:close/>
                <a:moveTo>
                  <a:pt x="1058333" y="1047750"/>
                </a:moveTo>
                <a:cubicBezTo>
                  <a:pt x="1023144" y="1047750"/>
                  <a:pt x="994833" y="1079599"/>
                  <a:pt x="994833" y="1119188"/>
                </a:cubicBezTo>
                <a:cubicBezTo>
                  <a:pt x="994833" y="1158776"/>
                  <a:pt x="1023144" y="1190625"/>
                  <a:pt x="1058333" y="1190625"/>
                </a:cubicBezTo>
                <a:lnTo>
                  <a:pt x="1206500" y="1190625"/>
                </a:lnTo>
                <a:cubicBezTo>
                  <a:pt x="1241690" y="1190625"/>
                  <a:pt x="1270000" y="1158776"/>
                  <a:pt x="1270000" y="1119188"/>
                </a:cubicBezTo>
                <a:cubicBezTo>
                  <a:pt x="1270000" y="1079599"/>
                  <a:pt x="1241690" y="1047750"/>
                  <a:pt x="1206500" y="1047750"/>
                </a:cubicBezTo>
                <a:lnTo>
                  <a:pt x="1058333" y="1047750"/>
                </a:lnTo>
                <a:close/>
              </a:path>
            </a:pathLst>
          </a:custGeom>
          <a:solidFill>
            <a:srgbClr val="E85D3F">
              <a:alpha val="15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12684760" y="269303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cubicBezTo>
                  <a:pt x="402878" y="0"/>
                  <a:pt x="422970" y="12055"/>
                  <a:pt x="433388" y="31254"/>
                </a:cubicBezTo>
                <a:lnTo>
                  <a:pt x="754856" y="626566"/>
                </a:lnTo>
                <a:cubicBezTo>
                  <a:pt x="764828" y="645021"/>
                  <a:pt x="764381" y="667345"/>
                  <a:pt x="753666" y="685354"/>
                </a:cubicBezTo>
                <a:cubicBezTo>
                  <a:pt x="742950" y="703362"/>
                  <a:pt x="723454" y="714375"/>
                  <a:pt x="702469" y="714375"/>
                </a:cubicBezTo>
                <a:lnTo>
                  <a:pt x="59531" y="714375"/>
                </a:lnTo>
                <a:cubicBezTo>
                  <a:pt x="38546" y="714375"/>
                  <a:pt x="19199" y="703362"/>
                  <a:pt x="8334" y="685354"/>
                </a:cubicBezTo>
                <a:cubicBezTo>
                  <a:pt x="-2530" y="667345"/>
                  <a:pt x="-2828" y="645021"/>
                  <a:pt x="7144" y="626566"/>
                </a:cubicBezTo>
                <a:lnTo>
                  <a:pt x="328613" y="31254"/>
                </a:lnTo>
                <a:cubicBezTo>
                  <a:pt x="339030" y="12055"/>
                  <a:pt x="359122" y="0"/>
                  <a:pt x="381000" y="0"/>
                </a:cubicBezTo>
                <a:close/>
                <a:moveTo>
                  <a:pt x="381000" y="250031"/>
                </a:moveTo>
                <a:cubicBezTo>
                  <a:pt x="361206" y="250031"/>
                  <a:pt x="345281" y="265956"/>
                  <a:pt x="345281" y="285750"/>
                </a:cubicBezTo>
                <a:lnTo>
                  <a:pt x="345281" y="452438"/>
                </a:lnTo>
                <a:cubicBezTo>
                  <a:pt x="345281" y="472232"/>
                  <a:pt x="361206" y="488156"/>
                  <a:pt x="381000" y="488156"/>
                </a:cubicBezTo>
                <a:cubicBezTo>
                  <a:pt x="400794" y="488156"/>
                  <a:pt x="416719" y="472232"/>
                  <a:pt x="416719" y="452438"/>
                </a:cubicBezTo>
                <a:lnTo>
                  <a:pt x="416719" y="285750"/>
                </a:lnTo>
                <a:cubicBezTo>
                  <a:pt x="416719" y="265956"/>
                  <a:pt x="400794" y="250031"/>
                  <a:pt x="381000" y="250031"/>
                </a:cubicBezTo>
                <a:close/>
                <a:moveTo>
                  <a:pt x="420737" y="571500"/>
                </a:moveTo>
                <a:cubicBezTo>
                  <a:pt x="421641" y="556750"/>
                  <a:pt x="414285" y="542717"/>
                  <a:pt x="401641" y="535068"/>
                </a:cubicBezTo>
                <a:cubicBezTo>
                  <a:pt x="388997" y="527420"/>
                  <a:pt x="373152" y="527420"/>
                  <a:pt x="360508" y="535068"/>
                </a:cubicBezTo>
                <a:cubicBezTo>
                  <a:pt x="347864" y="542717"/>
                  <a:pt x="340508" y="556750"/>
                  <a:pt x="341412" y="571500"/>
                </a:cubicBezTo>
                <a:cubicBezTo>
                  <a:pt x="340508" y="586250"/>
                  <a:pt x="347864" y="600283"/>
                  <a:pt x="360508" y="607932"/>
                </a:cubicBezTo>
                <a:cubicBezTo>
                  <a:pt x="373152" y="615580"/>
                  <a:pt x="388997" y="615580"/>
                  <a:pt x="401641" y="607932"/>
                </a:cubicBezTo>
                <a:cubicBezTo>
                  <a:pt x="414285" y="600283"/>
                  <a:pt x="421641" y="586250"/>
                  <a:pt x="420737" y="571500"/>
                </a:cubicBezTo>
                <a:close/>
              </a:path>
            </a:pathLst>
          </a:custGeom>
          <a:solidFill>
            <a:srgbClr val="F5A623">
              <a:alpha val="30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10414000" y="4826000"/>
            <a:ext cx="2286000" cy="1143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0" name="Text 8"/>
          <p:cNvSpPr/>
          <p:nvPr/>
        </p:nvSpPr>
        <p:spPr>
          <a:xfrm>
            <a:off x="10414000" y="4927600"/>
            <a:ext cx="2286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5A62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3.4B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414000" y="5435600"/>
            <a:ext cx="228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6B728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Phishing emails/day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2954000" y="4826000"/>
            <a:ext cx="2286000" cy="1143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3" name="Text 11"/>
          <p:cNvSpPr/>
          <p:nvPr/>
        </p:nvSpPr>
        <p:spPr>
          <a:xfrm>
            <a:off x="12954000" y="4927600"/>
            <a:ext cx="2286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5A62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36%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954000" y="5435600"/>
            <a:ext cx="228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6B728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Of all data breaches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2221230" y="669290"/>
            <a:ext cx="5418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7620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100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Existing Problems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4572000" cy="1651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6" name="Shape 4"/>
          <p:cNvSpPr/>
          <p:nvPr/>
        </p:nvSpPr>
        <p:spPr>
          <a:xfrm>
            <a:off x="1079500" y="203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4512" y="-14287"/>
                </a:moveTo>
                <a:cubicBezTo>
                  <a:pt x="137364" y="-14287"/>
                  <a:pt x="115525" y="37773"/>
                  <a:pt x="104809" y="85725"/>
                </a:cubicBezTo>
                <a:lnTo>
                  <a:pt x="73479" y="85725"/>
                </a:lnTo>
                <a:cubicBezTo>
                  <a:pt x="59905" y="85725"/>
                  <a:pt x="48986" y="95280"/>
                  <a:pt x="48986" y="107156"/>
                </a:cubicBezTo>
                <a:cubicBezTo>
                  <a:pt x="48986" y="119033"/>
                  <a:pt x="59905" y="128588"/>
                  <a:pt x="73479" y="128588"/>
                </a:cubicBezTo>
                <a:lnTo>
                  <a:pt x="97971" y="128588"/>
                </a:lnTo>
                <a:lnTo>
                  <a:pt x="97971" y="157163"/>
                </a:lnTo>
                <a:cubicBezTo>
                  <a:pt x="97971" y="172343"/>
                  <a:pt x="101339" y="186809"/>
                  <a:pt x="107462" y="200025"/>
                </a:cubicBezTo>
                <a:lnTo>
                  <a:pt x="97971" y="200025"/>
                </a:lnTo>
                <a:lnTo>
                  <a:pt x="97971" y="200025"/>
                </a:lnTo>
                <a:lnTo>
                  <a:pt x="77050" y="200025"/>
                </a:lnTo>
                <a:cubicBezTo>
                  <a:pt x="61538" y="200025"/>
                  <a:pt x="48986" y="211009"/>
                  <a:pt x="48986" y="224582"/>
                </a:cubicBezTo>
                <a:cubicBezTo>
                  <a:pt x="48986" y="227261"/>
                  <a:pt x="49496" y="229850"/>
                  <a:pt x="50414" y="232350"/>
                </a:cubicBezTo>
                <a:lnTo>
                  <a:pt x="79908" y="309682"/>
                </a:lnTo>
                <a:cubicBezTo>
                  <a:pt x="41026" y="338971"/>
                  <a:pt x="16329" y="382280"/>
                  <a:pt x="16329" y="430679"/>
                </a:cubicBezTo>
                <a:cubicBezTo>
                  <a:pt x="16329" y="445324"/>
                  <a:pt x="29902" y="457200"/>
                  <a:pt x="46638" y="457200"/>
                </a:cubicBezTo>
                <a:lnTo>
                  <a:pt x="410562" y="457200"/>
                </a:lnTo>
                <a:cubicBezTo>
                  <a:pt x="427298" y="457200"/>
                  <a:pt x="440871" y="445324"/>
                  <a:pt x="440871" y="430679"/>
                </a:cubicBezTo>
                <a:cubicBezTo>
                  <a:pt x="440871" y="382280"/>
                  <a:pt x="416174" y="338971"/>
                  <a:pt x="377292" y="309771"/>
                </a:cubicBezTo>
                <a:lnTo>
                  <a:pt x="406786" y="232440"/>
                </a:lnTo>
                <a:cubicBezTo>
                  <a:pt x="407704" y="229939"/>
                  <a:pt x="408214" y="227350"/>
                  <a:pt x="408214" y="224671"/>
                </a:cubicBezTo>
                <a:cubicBezTo>
                  <a:pt x="408214" y="211098"/>
                  <a:pt x="395662" y="200114"/>
                  <a:pt x="380150" y="200114"/>
                </a:cubicBezTo>
                <a:lnTo>
                  <a:pt x="359229" y="200114"/>
                </a:lnTo>
                <a:lnTo>
                  <a:pt x="359229" y="200114"/>
                </a:lnTo>
                <a:lnTo>
                  <a:pt x="349738" y="200114"/>
                </a:lnTo>
                <a:cubicBezTo>
                  <a:pt x="355861" y="186898"/>
                  <a:pt x="359229" y="172432"/>
                  <a:pt x="359229" y="157252"/>
                </a:cubicBezTo>
                <a:lnTo>
                  <a:pt x="359229" y="128677"/>
                </a:lnTo>
                <a:lnTo>
                  <a:pt x="383721" y="128677"/>
                </a:lnTo>
                <a:cubicBezTo>
                  <a:pt x="397295" y="128677"/>
                  <a:pt x="408214" y="119122"/>
                  <a:pt x="408214" y="107246"/>
                </a:cubicBezTo>
                <a:cubicBezTo>
                  <a:pt x="408214" y="95369"/>
                  <a:pt x="397295" y="85814"/>
                  <a:pt x="383721" y="85814"/>
                </a:cubicBezTo>
                <a:lnTo>
                  <a:pt x="352391" y="85814"/>
                </a:lnTo>
                <a:cubicBezTo>
                  <a:pt x="341777" y="37862"/>
                  <a:pt x="319836" y="-14198"/>
                  <a:pt x="282688" y="-14198"/>
                </a:cubicBezTo>
                <a:cubicBezTo>
                  <a:pt x="272891" y="-14198"/>
                  <a:pt x="263298" y="-10716"/>
                  <a:pt x="254624" y="-6876"/>
                </a:cubicBezTo>
                <a:cubicBezTo>
                  <a:pt x="246255" y="-3215"/>
                  <a:pt x="235846" y="89"/>
                  <a:pt x="228600" y="89"/>
                </a:cubicBezTo>
                <a:cubicBezTo>
                  <a:pt x="221354" y="89"/>
                  <a:pt x="210945" y="-3215"/>
                  <a:pt x="202576" y="-6876"/>
                </a:cubicBezTo>
                <a:cubicBezTo>
                  <a:pt x="193902" y="-10805"/>
                  <a:pt x="184309" y="-14287"/>
                  <a:pt x="174512" y="-14287"/>
                </a:cubicBezTo>
                <a:close/>
                <a:moveTo>
                  <a:pt x="270136" y="418267"/>
                </a:moveTo>
                <a:lnTo>
                  <a:pt x="244827" y="354955"/>
                </a:lnTo>
                <a:lnTo>
                  <a:pt x="273299" y="325934"/>
                </a:lnTo>
                <a:cubicBezTo>
                  <a:pt x="276055" y="323076"/>
                  <a:pt x="277586" y="319504"/>
                  <a:pt x="277586" y="315754"/>
                </a:cubicBezTo>
                <a:cubicBezTo>
                  <a:pt x="277586" y="307092"/>
                  <a:pt x="269626" y="300127"/>
                  <a:pt x="259726" y="300127"/>
                </a:cubicBezTo>
                <a:lnTo>
                  <a:pt x="197474" y="300127"/>
                </a:lnTo>
                <a:cubicBezTo>
                  <a:pt x="187574" y="300127"/>
                  <a:pt x="179614" y="307092"/>
                  <a:pt x="179614" y="315754"/>
                </a:cubicBezTo>
                <a:cubicBezTo>
                  <a:pt x="179614" y="319504"/>
                  <a:pt x="181145" y="323076"/>
                  <a:pt x="183901" y="325934"/>
                </a:cubicBezTo>
                <a:lnTo>
                  <a:pt x="212373" y="354955"/>
                </a:lnTo>
                <a:lnTo>
                  <a:pt x="187064" y="418267"/>
                </a:lnTo>
                <a:lnTo>
                  <a:pt x="128894" y="257175"/>
                </a:lnTo>
                <a:lnTo>
                  <a:pt x="165327" y="257175"/>
                </a:lnTo>
                <a:cubicBezTo>
                  <a:pt x="184105" y="266283"/>
                  <a:pt x="205638" y="271463"/>
                  <a:pt x="228600" y="271463"/>
                </a:cubicBezTo>
                <a:cubicBezTo>
                  <a:pt x="251562" y="271463"/>
                  <a:pt x="273095" y="266283"/>
                  <a:pt x="291873" y="257175"/>
                </a:cubicBezTo>
                <a:lnTo>
                  <a:pt x="328306" y="257175"/>
                </a:lnTo>
                <a:lnTo>
                  <a:pt x="270136" y="418267"/>
                </a:lnTo>
                <a:close/>
                <a:moveTo>
                  <a:pt x="228600" y="228600"/>
                </a:moveTo>
                <a:cubicBezTo>
                  <a:pt x="193187" y="228600"/>
                  <a:pt x="163082" y="208865"/>
                  <a:pt x="151754" y="181273"/>
                </a:cubicBezTo>
                <a:cubicBezTo>
                  <a:pt x="157571" y="184130"/>
                  <a:pt x="164306" y="185738"/>
                  <a:pt x="171450" y="185738"/>
                </a:cubicBezTo>
                <a:lnTo>
                  <a:pt x="184105" y="185738"/>
                </a:lnTo>
                <a:cubicBezTo>
                  <a:pt x="200943" y="185738"/>
                  <a:pt x="215843" y="176272"/>
                  <a:pt x="221150" y="162342"/>
                </a:cubicBezTo>
                <a:cubicBezTo>
                  <a:pt x="223497" y="156091"/>
                  <a:pt x="233601" y="156091"/>
                  <a:pt x="235948" y="162342"/>
                </a:cubicBezTo>
                <a:cubicBezTo>
                  <a:pt x="241255" y="176272"/>
                  <a:pt x="256257" y="185738"/>
                  <a:pt x="272993" y="185738"/>
                </a:cubicBezTo>
                <a:lnTo>
                  <a:pt x="285648" y="185738"/>
                </a:lnTo>
                <a:cubicBezTo>
                  <a:pt x="292792" y="185738"/>
                  <a:pt x="299527" y="184130"/>
                  <a:pt x="305344" y="181273"/>
                </a:cubicBezTo>
                <a:cubicBezTo>
                  <a:pt x="294016" y="208865"/>
                  <a:pt x="263911" y="228600"/>
                  <a:pt x="228498" y="228600"/>
                </a:cubicBezTo>
                <a:close/>
              </a:path>
            </a:pathLst>
          </a:custGeom>
          <a:solidFill>
            <a:srgbClr val="E85D3F"/>
          </a:solidFill>
        </p:spPr>
      </p:sp>
      <p:sp>
        <p:nvSpPr>
          <p:cNvPr id="7" name="Text 5"/>
          <p:cNvSpPr/>
          <p:nvPr/>
        </p:nvSpPr>
        <p:spPr>
          <a:xfrm>
            <a:off x="1714500" y="1968500"/>
            <a:ext cx="33655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Fake Sender</a:t>
            </a:r>
            <a:endParaRPr lang="en-US" sz="2000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20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Spoofed email addresses impersonating trusted sources</a:t>
            </a:r>
          </a:p>
        </p:txBody>
      </p:sp>
      <p:sp>
        <p:nvSpPr>
          <p:cNvPr id="8" name="Shape 6"/>
          <p:cNvSpPr/>
          <p:nvPr/>
        </p:nvSpPr>
        <p:spPr>
          <a:xfrm>
            <a:off x="5842000" y="1778000"/>
            <a:ext cx="4572000" cy="1651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9" name="Shape 7"/>
          <p:cNvSpPr/>
          <p:nvPr/>
        </p:nvSpPr>
        <p:spPr>
          <a:xfrm>
            <a:off x="6159500" y="203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32978" y="85725"/>
                </a:moveTo>
                <a:cubicBezTo>
                  <a:pt x="319802" y="85725"/>
                  <a:pt x="307023" y="89743"/>
                  <a:pt x="295831" y="97066"/>
                </a:cubicBezTo>
                <a:cubicBezTo>
                  <a:pt x="283289" y="82778"/>
                  <a:pt x="268684" y="70812"/>
                  <a:pt x="252571" y="61793"/>
                </a:cubicBezTo>
                <a:cubicBezTo>
                  <a:pt x="274955" y="40362"/>
                  <a:pt x="303451" y="28575"/>
                  <a:pt x="332978" y="28575"/>
                </a:cubicBezTo>
                <a:cubicBezTo>
                  <a:pt x="401558" y="28575"/>
                  <a:pt x="457200" y="91083"/>
                  <a:pt x="457200" y="168325"/>
                </a:cubicBezTo>
                <a:cubicBezTo>
                  <a:pt x="457200" y="205383"/>
                  <a:pt x="444103" y="240923"/>
                  <a:pt x="420846" y="267087"/>
                </a:cubicBezTo>
                <a:lnTo>
                  <a:pt x="364411" y="330577"/>
                </a:lnTo>
                <a:cubicBezTo>
                  <a:pt x="341154" y="356741"/>
                  <a:pt x="309563" y="371475"/>
                  <a:pt x="276622" y="371475"/>
                </a:cubicBezTo>
                <a:cubicBezTo>
                  <a:pt x="208042" y="371475"/>
                  <a:pt x="152400" y="308967"/>
                  <a:pt x="152400" y="231725"/>
                </a:cubicBezTo>
                <a:cubicBezTo>
                  <a:pt x="152400" y="230386"/>
                  <a:pt x="152400" y="229046"/>
                  <a:pt x="152479" y="227707"/>
                </a:cubicBezTo>
                <a:cubicBezTo>
                  <a:pt x="152876" y="211901"/>
                  <a:pt x="164544" y="199489"/>
                  <a:pt x="178594" y="199936"/>
                </a:cubicBezTo>
                <a:cubicBezTo>
                  <a:pt x="192643" y="200382"/>
                  <a:pt x="203676" y="213509"/>
                  <a:pt x="203279" y="229314"/>
                </a:cubicBezTo>
                <a:cubicBezTo>
                  <a:pt x="203279" y="230118"/>
                  <a:pt x="203279" y="230922"/>
                  <a:pt x="203279" y="231636"/>
                </a:cubicBezTo>
                <a:cubicBezTo>
                  <a:pt x="203279" y="277267"/>
                  <a:pt x="236141" y="314236"/>
                  <a:pt x="276701" y="314236"/>
                </a:cubicBezTo>
                <a:cubicBezTo>
                  <a:pt x="296148" y="314236"/>
                  <a:pt x="314801" y="305574"/>
                  <a:pt x="328613" y="290036"/>
                </a:cubicBezTo>
                <a:lnTo>
                  <a:pt x="385048" y="226546"/>
                </a:lnTo>
                <a:cubicBezTo>
                  <a:pt x="398780" y="211098"/>
                  <a:pt x="406559" y="190024"/>
                  <a:pt x="406559" y="168146"/>
                </a:cubicBezTo>
                <a:cubicBezTo>
                  <a:pt x="406559" y="122515"/>
                  <a:pt x="373698" y="85546"/>
                  <a:pt x="333137" y="85546"/>
                </a:cubicBezTo>
                <a:close/>
                <a:moveTo>
                  <a:pt x="218440" y="154751"/>
                </a:moveTo>
                <a:cubicBezTo>
                  <a:pt x="216932" y="154037"/>
                  <a:pt x="215424" y="153055"/>
                  <a:pt x="214074" y="151983"/>
                </a:cubicBezTo>
                <a:cubicBezTo>
                  <a:pt x="204073" y="146179"/>
                  <a:pt x="192643" y="142875"/>
                  <a:pt x="180658" y="142875"/>
                </a:cubicBezTo>
                <a:cubicBezTo>
                  <a:pt x="161211" y="142875"/>
                  <a:pt x="142558" y="151537"/>
                  <a:pt x="128746" y="167074"/>
                </a:cubicBezTo>
                <a:lnTo>
                  <a:pt x="72311" y="230565"/>
                </a:lnTo>
                <a:cubicBezTo>
                  <a:pt x="58579" y="246013"/>
                  <a:pt x="50800" y="267087"/>
                  <a:pt x="50800" y="288965"/>
                </a:cubicBezTo>
                <a:cubicBezTo>
                  <a:pt x="50800" y="334595"/>
                  <a:pt x="83661" y="371564"/>
                  <a:pt x="124222" y="371564"/>
                </a:cubicBezTo>
                <a:cubicBezTo>
                  <a:pt x="137319" y="371564"/>
                  <a:pt x="150098" y="367635"/>
                  <a:pt x="161290" y="360313"/>
                </a:cubicBezTo>
                <a:cubicBezTo>
                  <a:pt x="173831" y="374600"/>
                  <a:pt x="188436" y="386566"/>
                  <a:pt x="204629" y="395585"/>
                </a:cubicBezTo>
                <a:cubicBezTo>
                  <a:pt x="182245" y="416927"/>
                  <a:pt x="153829" y="428804"/>
                  <a:pt x="124222" y="428804"/>
                </a:cubicBezTo>
                <a:cubicBezTo>
                  <a:pt x="55642" y="428804"/>
                  <a:pt x="0" y="366296"/>
                  <a:pt x="0" y="289054"/>
                </a:cubicBezTo>
                <a:cubicBezTo>
                  <a:pt x="0" y="251996"/>
                  <a:pt x="13097" y="216456"/>
                  <a:pt x="36354" y="190292"/>
                </a:cubicBezTo>
                <a:lnTo>
                  <a:pt x="92789" y="126802"/>
                </a:lnTo>
                <a:cubicBezTo>
                  <a:pt x="116046" y="100638"/>
                  <a:pt x="147638" y="85904"/>
                  <a:pt x="180578" y="85904"/>
                </a:cubicBezTo>
                <a:cubicBezTo>
                  <a:pt x="249317" y="85904"/>
                  <a:pt x="304800" y="148947"/>
                  <a:pt x="304800" y="226010"/>
                </a:cubicBezTo>
                <a:cubicBezTo>
                  <a:pt x="304800" y="227171"/>
                  <a:pt x="304800" y="228332"/>
                  <a:pt x="304800" y="229493"/>
                </a:cubicBezTo>
                <a:cubicBezTo>
                  <a:pt x="304483" y="245299"/>
                  <a:pt x="292814" y="257711"/>
                  <a:pt x="278765" y="257354"/>
                </a:cubicBezTo>
                <a:cubicBezTo>
                  <a:pt x="264716" y="256996"/>
                  <a:pt x="253682" y="243870"/>
                  <a:pt x="254000" y="228064"/>
                </a:cubicBezTo>
                <a:cubicBezTo>
                  <a:pt x="254000" y="227350"/>
                  <a:pt x="254000" y="226725"/>
                  <a:pt x="254000" y="226010"/>
                </a:cubicBezTo>
                <a:cubicBezTo>
                  <a:pt x="254000" y="195917"/>
                  <a:pt x="239713" y="169485"/>
                  <a:pt x="218440" y="154930"/>
                </a:cubicBezTo>
                <a:close/>
              </a:path>
            </a:pathLst>
          </a:custGeom>
          <a:solidFill>
            <a:srgbClr val="E85D3F"/>
          </a:solidFill>
        </p:spPr>
      </p:sp>
      <p:sp>
        <p:nvSpPr>
          <p:cNvPr id="10" name="Text 8"/>
          <p:cNvSpPr/>
          <p:nvPr/>
        </p:nvSpPr>
        <p:spPr>
          <a:xfrm>
            <a:off x="6794500" y="1968500"/>
            <a:ext cx="33655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Malicious Links</a:t>
            </a:r>
            <a:endParaRPr lang="en-US" sz="2000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20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URLs leading to fraudulent or malware-infected sites</a:t>
            </a:r>
          </a:p>
        </p:txBody>
      </p:sp>
      <p:sp>
        <p:nvSpPr>
          <p:cNvPr id="11" name="Shape 9"/>
          <p:cNvSpPr/>
          <p:nvPr/>
        </p:nvSpPr>
        <p:spPr>
          <a:xfrm>
            <a:off x="10922000" y="1778000"/>
            <a:ext cx="4572000" cy="1651000"/>
          </a:xfrm>
          <a:prstGeom prst="rect">
            <a:avLst/>
          </a:prstGeom>
          <a:solidFill>
            <a:srgbClr val="1E2230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239500" y="203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ubicBezTo>
                  <a:pt x="0" y="102432"/>
                  <a:pt x="102432" y="0"/>
                  <a:pt x="228600" y="0"/>
                </a:cubicBezTo>
                <a:close/>
                <a:moveTo>
                  <a:pt x="207169" y="107156"/>
                </a:moveTo>
                <a:lnTo>
                  <a:pt x="207169" y="228600"/>
                </a:lnTo>
                <a:cubicBezTo>
                  <a:pt x="207169" y="235744"/>
                  <a:pt x="210741" y="242441"/>
                  <a:pt x="216724" y="246459"/>
                </a:cubicBezTo>
                <a:lnTo>
                  <a:pt x="302449" y="303609"/>
                </a:lnTo>
                <a:cubicBezTo>
                  <a:pt x="312271" y="310217"/>
                  <a:pt x="325576" y="307538"/>
                  <a:pt x="332184" y="297626"/>
                </a:cubicBezTo>
                <a:cubicBezTo>
                  <a:pt x="338792" y="287715"/>
                  <a:pt x="336113" y="274499"/>
                  <a:pt x="326201" y="267891"/>
                </a:cubicBezTo>
                <a:lnTo>
                  <a:pt x="250031" y="217170"/>
                </a:lnTo>
                <a:lnTo>
                  <a:pt x="250031" y="107156"/>
                </a:lnTo>
                <a:cubicBezTo>
                  <a:pt x="250031" y="95280"/>
                  <a:pt x="240476" y="85725"/>
                  <a:pt x="228600" y="85725"/>
                </a:cubicBezTo>
                <a:cubicBezTo>
                  <a:pt x="216724" y="85725"/>
                  <a:pt x="207169" y="95280"/>
                  <a:pt x="207169" y="107156"/>
                </a:cubicBezTo>
                <a:close/>
              </a:path>
            </a:pathLst>
          </a:custGeom>
          <a:solidFill>
            <a:srgbClr val="E85D3F"/>
          </a:solidFill>
        </p:spPr>
      </p:sp>
      <p:sp>
        <p:nvSpPr>
          <p:cNvPr id="13" name="Text 11"/>
          <p:cNvSpPr/>
          <p:nvPr/>
        </p:nvSpPr>
        <p:spPr>
          <a:xfrm>
            <a:off x="11874500" y="1968500"/>
            <a:ext cx="33655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Urgent Scams</a:t>
            </a:r>
            <a:endParaRPr lang="en-US" sz="2000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20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Messages creating false urgency to pressure users</a:t>
            </a:r>
          </a:p>
        </p:txBody>
      </p:sp>
      <p:sp>
        <p:nvSpPr>
          <p:cNvPr id="14" name="Shape 12"/>
          <p:cNvSpPr/>
          <p:nvPr/>
        </p:nvSpPr>
        <p:spPr>
          <a:xfrm>
            <a:off x="3302000" y="3937000"/>
            <a:ext cx="4572000" cy="1651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5" name="Shape 13"/>
          <p:cNvSpPr/>
          <p:nvPr/>
        </p:nvSpPr>
        <p:spPr>
          <a:xfrm>
            <a:off x="3619500" y="419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85725"/>
                </a:moveTo>
                <a:cubicBezTo>
                  <a:pt x="0" y="54203"/>
                  <a:pt x="22781" y="28575"/>
                  <a:pt x="50800" y="28575"/>
                </a:cubicBezTo>
                <a:lnTo>
                  <a:pt x="406400" y="28575"/>
                </a:lnTo>
                <a:cubicBezTo>
                  <a:pt x="434419" y="28575"/>
                  <a:pt x="457200" y="54203"/>
                  <a:pt x="457200" y="85725"/>
                </a:cubicBezTo>
                <a:lnTo>
                  <a:pt x="0" y="85725"/>
                </a:lnTo>
                <a:close/>
                <a:moveTo>
                  <a:pt x="0" y="128588"/>
                </a:moveTo>
                <a:lnTo>
                  <a:pt x="457200" y="128588"/>
                </a:lnTo>
                <a:lnTo>
                  <a:pt x="457200" y="371475"/>
                </a:lnTo>
                <a:cubicBezTo>
                  <a:pt x="457200" y="402997"/>
                  <a:pt x="434419" y="428625"/>
                  <a:pt x="406400" y="428625"/>
                </a:cubicBezTo>
                <a:lnTo>
                  <a:pt x="50800" y="428625"/>
                </a:lnTo>
                <a:cubicBezTo>
                  <a:pt x="22781" y="428625"/>
                  <a:pt x="0" y="402997"/>
                  <a:pt x="0" y="371475"/>
                </a:cubicBezTo>
                <a:lnTo>
                  <a:pt x="0" y="128588"/>
                </a:lnTo>
                <a:close/>
                <a:moveTo>
                  <a:pt x="196294" y="371475"/>
                </a:moveTo>
                <a:cubicBezTo>
                  <a:pt x="212328" y="371475"/>
                  <a:pt x="224314" y="354151"/>
                  <a:pt x="214074" y="340221"/>
                </a:cubicBezTo>
                <a:cubicBezTo>
                  <a:pt x="202406" y="324416"/>
                  <a:pt x="184785" y="314325"/>
                  <a:pt x="165100" y="314325"/>
                </a:cubicBezTo>
                <a:lnTo>
                  <a:pt x="114300" y="314325"/>
                </a:lnTo>
                <a:cubicBezTo>
                  <a:pt x="94615" y="314325"/>
                  <a:pt x="76994" y="324416"/>
                  <a:pt x="65326" y="340221"/>
                </a:cubicBezTo>
                <a:cubicBezTo>
                  <a:pt x="55086" y="354151"/>
                  <a:pt x="67072" y="371475"/>
                  <a:pt x="83106" y="371475"/>
                </a:cubicBezTo>
                <a:lnTo>
                  <a:pt x="196215" y="371475"/>
                </a:lnTo>
                <a:close/>
                <a:moveTo>
                  <a:pt x="139700" y="278606"/>
                </a:moveTo>
                <a:cubicBezTo>
                  <a:pt x="164233" y="278606"/>
                  <a:pt x="184150" y="256199"/>
                  <a:pt x="184150" y="228600"/>
                </a:cubicBezTo>
                <a:cubicBezTo>
                  <a:pt x="184150" y="201001"/>
                  <a:pt x="164233" y="178594"/>
                  <a:pt x="139700" y="178594"/>
                </a:cubicBezTo>
                <a:cubicBezTo>
                  <a:pt x="115167" y="178594"/>
                  <a:pt x="95250" y="201001"/>
                  <a:pt x="95250" y="228600"/>
                </a:cubicBezTo>
                <a:cubicBezTo>
                  <a:pt x="95250" y="256199"/>
                  <a:pt x="115167" y="278606"/>
                  <a:pt x="139700" y="278606"/>
                </a:cubicBezTo>
                <a:close/>
                <a:moveTo>
                  <a:pt x="285750" y="185738"/>
                </a:moveTo>
                <a:cubicBezTo>
                  <a:pt x="275193" y="185738"/>
                  <a:pt x="266700" y="195292"/>
                  <a:pt x="266700" y="207169"/>
                </a:cubicBezTo>
                <a:cubicBezTo>
                  <a:pt x="266700" y="219045"/>
                  <a:pt x="275193" y="228600"/>
                  <a:pt x="285750" y="228600"/>
                </a:cubicBezTo>
                <a:lnTo>
                  <a:pt x="374650" y="228600"/>
                </a:lnTo>
                <a:cubicBezTo>
                  <a:pt x="385207" y="228600"/>
                  <a:pt x="393700" y="219045"/>
                  <a:pt x="393700" y="207169"/>
                </a:cubicBezTo>
                <a:cubicBezTo>
                  <a:pt x="393700" y="195292"/>
                  <a:pt x="385207" y="185738"/>
                  <a:pt x="374650" y="185738"/>
                </a:cubicBezTo>
                <a:lnTo>
                  <a:pt x="285750" y="185738"/>
                </a:lnTo>
                <a:close/>
                <a:moveTo>
                  <a:pt x="285750" y="271463"/>
                </a:moveTo>
                <a:cubicBezTo>
                  <a:pt x="275193" y="271463"/>
                  <a:pt x="266700" y="281017"/>
                  <a:pt x="266700" y="292894"/>
                </a:cubicBezTo>
                <a:cubicBezTo>
                  <a:pt x="266700" y="304770"/>
                  <a:pt x="275193" y="314325"/>
                  <a:pt x="285750" y="314325"/>
                </a:cubicBezTo>
                <a:lnTo>
                  <a:pt x="374650" y="314325"/>
                </a:lnTo>
                <a:cubicBezTo>
                  <a:pt x="385207" y="314325"/>
                  <a:pt x="393700" y="304770"/>
                  <a:pt x="393700" y="292894"/>
                </a:cubicBezTo>
                <a:cubicBezTo>
                  <a:pt x="393700" y="281017"/>
                  <a:pt x="385207" y="271463"/>
                  <a:pt x="374650" y="271463"/>
                </a:cubicBezTo>
                <a:lnTo>
                  <a:pt x="285750" y="271463"/>
                </a:lnTo>
                <a:close/>
              </a:path>
            </a:pathLst>
          </a:custGeom>
          <a:solidFill>
            <a:srgbClr val="E85D3F"/>
          </a:solidFill>
        </p:spPr>
      </p:sp>
      <p:sp>
        <p:nvSpPr>
          <p:cNvPr id="16" name="Text 14"/>
          <p:cNvSpPr/>
          <p:nvPr/>
        </p:nvSpPr>
        <p:spPr>
          <a:xfrm>
            <a:off x="4254500" y="4127500"/>
            <a:ext cx="33655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Identity Theft</a:t>
            </a:r>
            <a:endParaRPr lang="en-US" sz="2000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20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Stealing personal credentials for fraudulent purposes</a:t>
            </a:r>
          </a:p>
        </p:txBody>
      </p:sp>
      <p:sp>
        <p:nvSpPr>
          <p:cNvPr id="17" name="Shape 15"/>
          <p:cNvSpPr/>
          <p:nvPr/>
        </p:nvSpPr>
        <p:spPr>
          <a:xfrm>
            <a:off x="8382000" y="3937000"/>
            <a:ext cx="4572000" cy="1651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8" name="Shape 16"/>
          <p:cNvSpPr/>
          <p:nvPr/>
        </p:nvSpPr>
        <p:spPr>
          <a:xfrm>
            <a:off x="8699500" y="419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374690"/>
                </a:moveTo>
                <a:lnTo>
                  <a:pt x="0" y="97780"/>
                </a:lnTo>
                <a:cubicBezTo>
                  <a:pt x="0" y="77063"/>
                  <a:pt x="21521" y="63311"/>
                  <a:pt x="41344" y="69205"/>
                </a:cubicBezTo>
                <a:cubicBezTo>
                  <a:pt x="119658" y="92601"/>
                  <a:pt x="175022" y="74116"/>
                  <a:pt x="230743" y="55543"/>
                </a:cubicBezTo>
                <a:cubicBezTo>
                  <a:pt x="288340" y="36344"/>
                  <a:pt x="346293" y="17056"/>
                  <a:pt x="430143" y="43845"/>
                </a:cubicBezTo>
                <a:cubicBezTo>
                  <a:pt x="446663" y="49113"/>
                  <a:pt x="457200" y="65097"/>
                  <a:pt x="457200" y="82510"/>
                </a:cubicBezTo>
                <a:lnTo>
                  <a:pt x="457200" y="359420"/>
                </a:lnTo>
                <a:cubicBezTo>
                  <a:pt x="457200" y="380137"/>
                  <a:pt x="435679" y="393889"/>
                  <a:pt x="415945" y="387995"/>
                </a:cubicBezTo>
                <a:cubicBezTo>
                  <a:pt x="337631" y="364599"/>
                  <a:pt x="282178" y="383084"/>
                  <a:pt x="226546" y="401657"/>
                </a:cubicBezTo>
                <a:cubicBezTo>
                  <a:pt x="168950" y="420856"/>
                  <a:pt x="110996" y="440144"/>
                  <a:pt x="27146" y="413355"/>
                </a:cubicBezTo>
                <a:cubicBezTo>
                  <a:pt x="10626" y="408087"/>
                  <a:pt x="89" y="392103"/>
                  <a:pt x="89" y="374690"/>
                </a:cubicBezTo>
                <a:close/>
                <a:moveTo>
                  <a:pt x="300038" y="228600"/>
                </a:moveTo>
                <a:cubicBezTo>
                  <a:pt x="300038" y="181273"/>
                  <a:pt x="268069" y="142875"/>
                  <a:pt x="228600" y="142875"/>
                </a:cubicBezTo>
                <a:cubicBezTo>
                  <a:pt x="189131" y="142875"/>
                  <a:pt x="157163" y="181273"/>
                  <a:pt x="157163" y="228600"/>
                </a:cubicBezTo>
                <a:cubicBezTo>
                  <a:pt x="157163" y="275927"/>
                  <a:pt x="189131" y="314325"/>
                  <a:pt x="228600" y="314325"/>
                </a:cubicBezTo>
                <a:cubicBezTo>
                  <a:pt x="268069" y="314325"/>
                  <a:pt x="300038" y="275927"/>
                  <a:pt x="300038" y="228600"/>
                </a:cubicBezTo>
                <a:close/>
                <a:moveTo>
                  <a:pt x="107156" y="369332"/>
                </a:moveTo>
                <a:cubicBezTo>
                  <a:pt x="111085" y="369332"/>
                  <a:pt x="114211" y="365939"/>
                  <a:pt x="113586" y="362099"/>
                </a:cubicBezTo>
                <a:cubicBezTo>
                  <a:pt x="109478" y="337274"/>
                  <a:pt x="89475" y="317897"/>
                  <a:pt x="64294" y="314771"/>
                </a:cubicBezTo>
                <a:cubicBezTo>
                  <a:pt x="60365" y="314325"/>
                  <a:pt x="57150" y="317540"/>
                  <a:pt x="57150" y="321469"/>
                </a:cubicBezTo>
                <a:lnTo>
                  <a:pt x="57150" y="357098"/>
                </a:lnTo>
                <a:cubicBezTo>
                  <a:pt x="57150" y="360313"/>
                  <a:pt x="59293" y="363170"/>
                  <a:pt x="62508" y="363974"/>
                </a:cubicBezTo>
                <a:cubicBezTo>
                  <a:pt x="78492" y="367725"/>
                  <a:pt x="93137" y="369421"/>
                  <a:pt x="107156" y="369421"/>
                </a:cubicBezTo>
                <a:close/>
                <a:moveTo>
                  <a:pt x="391567" y="323701"/>
                </a:moveTo>
                <a:cubicBezTo>
                  <a:pt x="396032" y="324416"/>
                  <a:pt x="400050" y="321022"/>
                  <a:pt x="400050" y="316557"/>
                </a:cubicBezTo>
                <a:lnTo>
                  <a:pt x="400050" y="278517"/>
                </a:lnTo>
                <a:cubicBezTo>
                  <a:pt x="400050" y="274588"/>
                  <a:pt x="396835" y="271284"/>
                  <a:pt x="392906" y="271820"/>
                </a:cubicBezTo>
                <a:cubicBezTo>
                  <a:pt x="370403" y="274588"/>
                  <a:pt x="351919" y="290483"/>
                  <a:pt x="345400" y="311646"/>
                </a:cubicBezTo>
                <a:cubicBezTo>
                  <a:pt x="344150" y="315843"/>
                  <a:pt x="347454" y="319772"/>
                  <a:pt x="351830" y="319861"/>
                </a:cubicBezTo>
                <a:cubicBezTo>
                  <a:pt x="364510" y="320219"/>
                  <a:pt x="377726" y="321379"/>
                  <a:pt x="391478" y="323701"/>
                </a:cubicBezTo>
                <a:close/>
                <a:moveTo>
                  <a:pt x="400050" y="135731"/>
                </a:moveTo>
                <a:lnTo>
                  <a:pt x="400050" y="100102"/>
                </a:lnTo>
                <a:cubicBezTo>
                  <a:pt x="400050" y="96887"/>
                  <a:pt x="397818" y="94030"/>
                  <a:pt x="394692" y="93226"/>
                </a:cubicBezTo>
                <a:cubicBezTo>
                  <a:pt x="378708" y="89475"/>
                  <a:pt x="364063" y="87779"/>
                  <a:pt x="350044" y="87779"/>
                </a:cubicBezTo>
                <a:cubicBezTo>
                  <a:pt x="346115" y="87779"/>
                  <a:pt x="342989" y="91172"/>
                  <a:pt x="343614" y="95012"/>
                </a:cubicBezTo>
                <a:cubicBezTo>
                  <a:pt x="347722" y="119836"/>
                  <a:pt x="367725" y="139214"/>
                  <a:pt x="392906" y="142339"/>
                </a:cubicBezTo>
                <a:cubicBezTo>
                  <a:pt x="396835" y="142786"/>
                  <a:pt x="400050" y="139571"/>
                  <a:pt x="400050" y="135642"/>
                </a:cubicBezTo>
                <a:close/>
                <a:moveTo>
                  <a:pt x="111800" y="145465"/>
                </a:moveTo>
                <a:cubicBezTo>
                  <a:pt x="113050" y="141268"/>
                  <a:pt x="109746" y="137339"/>
                  <a:pt x="105370" y="137249"/>
                </a:cubicBezTo>
                <a:cubicBezTo>
                  <a:pt x="92690" y="136892"/>
                  <a:pt x="79474" y="135731"/>
                  <a:pt x="65723" y="133410"/>
                </a:cubicBezTo>
                <a:cubicBezTo>
                  <a:pt x="61258" y="132695"/>
                  <a:pt x="57239" y="136088"/>
                  <a:pt x="57239" y="140553"/>
                </a:cubicBezTo>
                <a:lnTo>
                  <a:pt x="57150" y="178594"/>
                </a:lnTo>
                <a:cubicBezTo>
                  <a:pt x="57150" y="182523"/>
                  <a:pt x="60365" y="185827"/>
                  <a:pt x="64294" y="185291"/>
                </a:cubicBezTo>
                <a:cubicBezTo>
                  <a:pt x="86797" y="182523"/>
                  <a:pt x="105281" y="166628"/>
                  <a:pt x="111800" y="145465"/>
                </a:cubicBezTo>
                <a:close/>
              </a:path>
            </a:pathLst>
          </a:custGeom>
          <a:solidFill>
            <a:srgbClr val="E85D3F"/>
          </a:solidFill>
        </p:spPr>
      </p:sp>
      <p:sp>
        <p:nvSpPr>
          <p:cNvPr id="19" name="Text 17"/>
          <p:cNvSpPr/>
          <p:nvPr/>
        </p:nvSpPr>
        <p:spPr>
          <a:xfrm>
            <a:off x="9334500" y="4127500"/>
            <a:ext cx="33655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Financial Fraud</a:t>
            </a:r>
            <a:endParaRPr lang="en-US" sz="2000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20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Tricking victims into transferring money or data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7620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100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1651000"/>
            <a:ext cx="14732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PhishShield</a:t>
            </a:r>
            <a:r>
              <a:rPr lang="en-US" sz="2200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is a </a:t>
            </a:r>
            <a:r>
              <a:rPr lang="en-US" sz="2200" b="1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rule-based email security system</a:t>
            </a:r>
            <a:r>
              <a:rPr lang="en-US" sz="2200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that analyzes multiple components of an email and determines whether it is safe or phishing.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3048000"/>
            <a:ext cx="3302000" cy="2794000"/>
          </a:xfrm>
          <a:prstGeom prst="rect">
            <a:avLst/>
          </a:prstGeom>
          <a:solidFill>
            <a:srgbClr val="1E2230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32000" y="3302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79375"/>
                </a:moveTo>
                <a:cubicBezTo>
                  <a:pt x="186035" y="79375"/>
                  <a:pt x="79375" y="186035"/>
                  <a:pt x="79375" y="317500"/>
                </a:cubicBezTo>
                <a:cubicBezTo>
                  <a:pt x="79375" y="448965"/>
                  <a:pt x="186035" y="555625"/>
                  <a:pt x="317500" y="555625"/>
                </a:cubicBezTo>
                <a:cubicBezTo>
                  <a:pt x="339452" y="555625"/>
                  <a:pt x="357188" y="573360"/>
                  <a:pt x="357188" y="595313"/>
                </a:cubicBezTo>
                <a:cubicBezTo>
                  <a:pt x="357188" y="617265"/>
                  <a:pt x="339452" y="635000"/>
                  <a:pt x="317500" y="635000"/>
                </a:cubicBezTo>
                <a:cubicBezTo>
                  <a:pt x="142131" y="635000"/>
                  <a:pt x="0" y="492869"/>
                  <a:pt x="0" y="317500"/>
                </a:cubicBezTo>
                <a:cubicBezTo>
                  <a:pt x="0" y="142131"/>
                  <a:pt x="142131" y="0"/>
                  <a:pt x="317500" y="0"/>
                </a:cubicBezTo>
                <a:cubicBezTo>
                  <a:pt x="492869" y="0"/>
                  <a:pt x="635000" y="142131"/>
                  <a:pt x="635000" y="317500"/>
                </a:cubicBezTo>
                <a:lnTo>
                  <a:pt x="635000" y="357188"/>
                </a:lnTo>
                <a:cubicBezTo>
                  <a:pt x="635000" y="422920"/>
                  <a:pt x="581670" y="476250"/>
                  <a:pt x="515937" y="476250"/>
                </a:cubicBezTo>
                <a:cubicBezTo>
                  <a:pt x="479599" y="476250"/>
                  <a:pt x="446980" y="459879"/>
                  <a:pt x="425152" y="434206"/>
                </a:cubicBezTo>
                <a:cubicBezTo>
                  <a:pt x="396875" y="460251"/>
                  <a:pt x="359048" y="476250"/>
                  <a:pt x="317500" y="476250"/>
                </a:cubicBezTo>
                <a:cubicBezTo>
                  <a:pt x="229815" y="476250"/>
                  <a:pt x="158750" y="405185"/>
                  <a:pt x="158750" y="317500"/>
                </a:cubicBezTo>
                <a:cubicBezTo>
                  <a:pt x="158750" y="229815"/>
                  <a:pt x="229815" y="158750"/>
                  <a:pt x="317500" y="158750"/>
                </a:cubicBezTo>
                <a:cubicBezTo>
                  <a:pt x="352103" y="158750"/>
                  <a:pt x="384101" y="169788"/>
                  <a:pt x="410146" y="188640"/>
                </a:cubicBezTo>
                <a:cubicBezTo>
                  <a:pt x="417215" y="182438"/>
                  <a:pt x="426393" y="178594"/>
                  <a:pt x="436563" y="178594"/>
                </a:cubicBezTo>
                <a:cubicBezTo>
                  <a:pt x="458515" y="178594"/>
                  <a:pt x="476250" y="196329"/>
                  <a:pt x="476250" y="218281"/>
                </a:cubicBezTo>
                <a:lnTo>
                  <a:pt x="476250" y="357188"/>
                </a:lnTo>
                <a:cubicBezTo>
                  <a:pt x="476250" y="379140"/>
                  <a:pt x="493985" y="396875"/>
                  <a:pt x="515937" y="396875"/>
                </a:cubicBezTo>
                <a:cubicBezTo>
                  <a:pt x="537890" y="396875"/>
                  <a:pt x="555625" y="379140"/>
                  <a:pt x="555625" y="357188"/>
                </a:cubicBezTo>
                <a:lnTo>
                  <a:pt x="555625" y="317500"/>
                </a:lnTo>
                <a:cubicBezTo>
                  <a:pt x="555625" y="186035"/>
                  <a:pt x="448965" y="79375"/>
                  <a:pt x="317500" y="79375"/>
                </a:cubicBezTo>
                <a:close/>
                <a:moveTo>
                  <a:pt x="396875" y="317500"/>
                </a:moveTo>
                <a:cubicBezTo>
                  <a:pt x="396875" y="273692"/>
                  <a:pt x="361308" y="238125"/>
                  <a:pt x="317500" y="238125"/>
                </a:cubicBezTo>
                <a:cubicBezTo>
                  <a:pt x="273692" y="238125"/>
                  <a:pt x="238125" y="273692"/>
                  <a:pt x="238125" y="317500"/>
                </a:cubicBezTo>
                <a:cubicBezTo>
                  <a:pt x="238125" y="361308"/>
                  <a:pt x="273692" y="396875"/>
                  <a:pt x="317500" y="396875"/>
                </a:cubicBezTo>
                <a:cubicBezTo>
                  <a:pt x="361308" y="396875"/>
                  <a:pt x="396875" y="361308"/>
                  <a:pt x="396875" y="317500"/>
                </a:cubicBezTo>
                <a:close/>
              </a:path>
            </a:pathLst>
          </a:custGeom>
          <a:solidFill>
            <a:srgbClr val="E85D3F"/>
          </a:solidFill>
        </p:spPr>
      </p:sp>
      <p:sp>
        <p:nvSpPr>
          <p:cNvPr id="8" name="Text 6"/>
          <p:cNvSpPr/>
          <p:nvPr/>
        </p:nvSpPr>
        <p:spPr>
          <a:xfrm>
            <a:off x="762000" y="4127500"/>
            <a:ext cx="3302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Sender</a:t>
            </a:r>
          </a:p>
        </p:txBody>
      </p:sp>
      <p:sp>
        <p:nvSpPr>
          <p:cNvPr id="9" name="Text 7"/>
          <p:cNvSpPr/>
          <p:nvPr/>
        </p:nvSpPr>
        <p:spPr>
          <a:xfrm>
            <a:off x="1016000" y="4572000"/>
            <a:ext cx="3006725" cy="1250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Verifies the email sender's domain against a trusted list</a:t>
            </a:r>
          </a:p>
        </p:txBody>
      </p:sp>
      <p:sp>
        <p:nvSpPr>
          <p:cNvPr id="10" name="Shape 8"/>
          <p:cNvSpPr/>
          <p:nvPr/>
        </p:nvSpPr>
        <p:spPr>
          <a:xfrm>
            <a:off x="4561205" y="3048000"/>
            <a:ext cx="3302000" cy="2794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1" name="Shape 9"/>
          <p:cNvSpPr/>
          <p:nvPr/>
        </p:nvSpPr>
        <p:spPr>
          <a:xfrm>
            <a:off x="5842000" y="3302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0" y="79375"/>
                </a:moveTo>
                <a:cubicBezTo>
                  <a:pt x="0" y="57423"/>
                  <a:pt x="20269" y="39688"/>
                  <a:pt x="45357" y="39688"/>
                </a:cubicBezTo>
                <a:lnTo>
                  <a:pt x="181429" y="39688"/>
                </a:lnTo>
                <a:cubicBezTo>
                  <a:pt x="206517" y="39688"/>
                  <a:pt x="226786" y="57423"/>
                  <a:pt x="226786" y="79375"/>
                </a:cubicBezTo>
                <a:cubicBezTo>
                  <a:pt x="226786" y="101327"/>
                  <a:pt x="206517" y="119062"/>
                  <a:pt x="181429" y="119062"/>
                </a:cubicBezTo>
                <a:lnTo>
                  <a:pt x="158750" y="119062"/>
                </a:lnTo>
                <a:lnTo>
                  <a:pt x="158750" y="257969"/>
                </a:lnTo>
                <a:lnTo>
                  <a:pt x="476250" y="257969"/>
                </a:lnTo>
                <a:lnTo>
                  <a:pt x="476250" y="119062"/>
                </a:lnTo>
                <a:lnTo>
                  <a:pt x="453571" y="119062"/>
                </a:lnTo>
                <a:cubicBezTo>
                  <a:pt x="428483" y="119062"/>
                  <a:pt x="408214" y="101327"/>
                  <a:pt x="408214" y="79375"/>
                </a:cubicBezTo>
                <a:cubicBezTo>
                  <a:pt x="408214" y="57423"/>
                  <a:pt x="428483" y="39688"/>
                  <a:pt x="453571" y="39688"/>
                </a:cubicBezTo>
                <a:lnTo>
                  <a:pt x="589643" y="39688"/>
                </a:lnTo>
                <a:cubicBezTo>
                  <a:pt x="614731" y="39688"/>
                  <a:pt x="635000" y="57423"/>
                  <a:pt x="635000" y="79375"/>
                </a:cubicBezTo>
                <a:cubicBezTo>
                  <a:pt x="635000" y="101327"/>
                  <a:pt x="614731" y="119062"/>
                  <a:pt x="589643" y="119062"/>
                </a:cubicBezTo>
                <a:lnTo>
                  <a:pt x="566964" y="119062"/>
                </a:lnTo>
                <a:lnTo>
                  <a:pt x="566964" y="515937"/>
                </a:lnTo>
                <a:lnTo>
                  <a:pt x="589643" y="515937"/>
                </a:lnTo>
                <a:cubicBezTo>
                  <a:pt x="614731" y="515937"/>
                  <a:pt x="635000" y="533673"/>
                  <a:pt x="635000" y="555625"/>
                </a:cubicBezTo>
                <a:cubicBezTo>
                  <a:pt x="635000" y="577577"/>
                  <a:pt x="614731" y="595313"/>
                  <a:pt x="589643" y="595313"/>
                </a:cubicBezTo>
                <a:lnTo>
                  <a:pt x="453571" y="595313"/>
                </a:lnTo>
                <a:cubicBezTo>
                  <a:pt x="428483" y="595313"/>
                  <a:pt x="408214" y="577577"/>
                  <a:pt x="408214" y="555625"/>
                </a:cubicBezTo>
                <a:cubicBezTo>
                  <a:pt x="408214" y="533673"/>
                  <a:pt x="428483" y="515937"/>
                  <a:pt x="453571" y="515937"/>
                </a:cubicBezTo>
                <a:lnTo>
                  <a:pt x="476250" y="515937"/>
                </a:lnTo>
                <a:lnTo>
                  <a:pt x="476250" y="337344"/>
                </a:lnTo>
                <a:lnTo>
                  <a:pt x="158750" y="337344"/>
                </a:lnTo>
                <a:lnTo>
                  <a:pt x="158750" y="515937"/>
                </a:lnTo>
                <a:lnTo>
                  <a:pt x="181429" y="515937"/>
                </a:lnTo>
                <a:cubicBezTo>
                  <a:pt x="206517" y="515937"/>
                  <a:pt x="226786" y="533673"/>
                  <a:pt x="226786" y="555625"/>
                </a:cubicBezTo>
                <a:cubicBezTo>
                  <a:pt x="226786" y="577577"/>
                  <a:pt x="206517" y="595313"/>
                  <a:pt x="181429" y="595313"/>
                </a:cubicBezTo>
                <a:lnTo>
                  <a:pt x="45357" y="595313"/>
                </a:lnTo>
                <a:cubicBezTo>
                  <a:pt x="20269" y="595313"/>
                  <a:pt x="0" y="577577"/>
                  <a:pt x="0" y="555625"/>
                </a:cubicBezTo>
                <a:cubicBezTo>
                  <a:pt x="0" y="533673"/>
                  <a:pt x="20269" y="515937"/>
                  <a:pt x="45357" y="515937"/>
                </a:cubicBezTo>
                <a:lnTo>
                  <a:pt x="68036" y="515937"/>
                </a:lnTo>
                <a:lnTo>
                  <a:pt x="68036" y="119062"/>
                </a:lnTo>
                <a:lnTo>
                  <a:pt x="45357" y="119062"/>
                </a:lnTo>
                <a:cubicBezTo>
                  <a:pt x="20269" y="119062"/>
                  <a:pt x="0" y="101327"/>
                  <a:pt x="0" y="79375"/>
                </a:cubicBezTo>
                <a:close/>
              </a:path>
            </a:pathLst>
          </a:custGeom>
          <a:solidFill>
            <a:srgbClr val="E85D3F"/>
          </a:solidFill>
        </p:spPr>
      </p:sp>
      <p:sp>
        <p:nvSpPr>
          <p:cNvPr id="12" name="Text 10"/>
          <p:cNvSpPr/>
          <p:nvPr/>
        </p:nvSpPr>
        <p:spPr>
          <a:xfrm>
            <a:off x="4572000" y="4127500"/>
            <a:ext cx="3302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Subject</a:t>
            </a:r>
          </a:p>
        </p:txBody>
      </p:sp>
      <p:sp>
        <p:nvSpPr>
          <p:cNvPr id="13" name="Text 11"/>
          <p:cNvSpPr/>
          <p:nvPr/>
        </p:nvSpPr>
        <p:spPr>
          <a:xfrm>
            <a:off x="4603115" y="4572000"/>
            <a:ext cx="3270885" cy="1146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Scans subject lines for suspicious keywords and patterns</a:t>
            </a:r>
          </a:p>
        </p:txBody>
      </p:sp>
      <p:sp>
        <p:nvSpPr>
          <p:cNvPr id="14" name="Shape 12"/>
          <p:cNvSpPr/>
          <p:nvPr/>
        </p:nvSpPr>
        <p:spPr>
          <a:xfrm>
            <a:off x="8318500" y="2921000"/>
            <a:ext cx="3302000" cy="2794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5" name="Shape 13"/>
          <p:cNvSpPr/>
          <p:nvPr/>
        </p:nvSpPr>
        <p:spPr>
          <a:xfrm>
            <a:off x="9709785" y="3302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408214" y="79375"/>
                </a:moveTo>
                <a:cubicBezTo>
                  <a:pt x="408214" y="101327"/>
                  <a:pt x="387945" y="119062"/>
                  <a:pt x="362857" y="119062"/>
                </a:cubicBezTo>
                <a:lnTo>
                  <a:pt x="45357" y="119062"/>
                </a:lnTo>
                <a:cubicBezTo>
                  <a:pt x="20269" y="119062"/>
                  <a:pt x="0" y="101327"/>
                  <a:pt x="0" y="79375"/>
                </a:cubicBezTo>
                <a:cubicBezTo>
                  <a:pt x="0" y="57423"/>
                  <a:pt x="20269" y="39688"/>
                  <a:pt x="45357" y="39688"/>
                </a:cubicBezTo>
                <a:lnTo>
                  <a:pt x="362857" y="39688"/>
                </a:lnTo>
                <a:cubicBezTo>
                  <a:pt x="387945" y="39688"/>
                  <a:pt x="408214" y="57423"/>
                  <a:pt x="408214" y="79375"/>
                </a:cubicBezTo>
                <a:close/>
                <a:moveTo>
                  <a:pt x="408214" y="396875"/>
                </a:moveTo>
                <a:cubicBezTo>
                  <a:pt x="408214" y="418827"/>
                  <a:pt x="387945" y="436563"/>
                  <a:pt x="362857" y="436563"/>
                </a:cubicBezTo>
                <a:lnTo>
                  <a:pt x="45357" y="436563"/>
                </a:lnTo>
                <a:cubicBezTo>
                  <a:pt x="20269" y="436563"/>
                  <a:pt x="0" y="418827"/>
                  <a:pt x="0" y="396875"/>
                </a:cubicBezTo>
                <a:cubicBezTo>
                  <a:pt x="0" y="374923"/>
                  <a:pt x="20269" y="357188"/>
                  <a:pt x="45357" y="357188"/>
                </a:cubicBezTo>
                <a:lnTo>
                  <a:pt x="362857" y="357188"/>
                </a:lnTo>
                <a:cubicBezTo>
                  <a:pt x="387945" y="357188"/>
                  <a:pt x="408214" y="374923"/>
                  <a:pt x="408214" y="396875"/>
                </a:cubicBezTo>
                <a:close/>
                <a:moveTo>
                  <a:pt x="0" y="238125"/>
                </a:moveTo>
                <a:cubicBezTo>
                  <a:pt x="0" y="216173"/>
                  <a:pt x="20269" y="198438"/>
                  <a:pt x="45357" y="198438"/>
                </a:cubicBezTo>
                <a:lnTo>
                  <a:pt x="589643" y="198438"/>
                </a:lnTo>
                <a:cubicBezTo>
                  <a:pt x="614731" y="198438"/>
                  <a:pt x="635000" y="216173"/>
                  <a:pt x="635000" y="238125"/>
                </a:cubicBezTo>
                <a:cubicBezTo>
                  <a:pt x="635000" y="260077"/>
                  <a:pt x="614731" y="277813"/>
                  <a:pt x="589643" y="277813"/>
                </a:cubicBezTo>
                <a:lnTo>
                  <a:pt x="45357" y="277813"/>
                </a:lnTo>
                <a:cubicBezTo>
                  <a:pt x="20269" y="277813"/>
                  <a:pt x="0" y="260077"/>
                  <a:pt x="0" y="238125"/>
                </a:cubicBezTo>
                <a:close/>
                <a:moveTo>
                  <a:pt x="635000" y="555625"/>
                </a:moveTo>
                <a:cubicBezTo>
                  <a:pt x="635000" y="577577"/>
                  <a:pt x="614731" y="595313"/>
                  <a:pt x="589643" y="595313"/>
                </a:cubicBezTo>
                <a:lnTo>
                  <a:pt x="45357" y="595313"/>
                </a:lnTo>
                <a:cubicBezTo>
                  <a:pt x="20269" y="595313"/>
                  <a:pt x="0" y="577577"/>
                  <a:pt x="0" y="555625"/>
                </a:cubicBezTo>
                <a:cubicBezTo>
                  <a:pt x="0" y="533673"/>
                  <a:pt x="20269" y="515937"/>
                  <a:pt x="45357" y="515937"/>
                </a:cubicBezTo>
                <a:lnTo>
                  <a:pt x="589643" y="515937"/>
                </a:lnTo>
                <a:cubicBezTo>
                  <a:pt x="614731" y="515937"/>
                  <a:pt x="635000" y="533673"/>
                  <a:pt x="635000" y="555625"/>
                </a:cubicBezTo>
                <a:close/>
              </a:path>
            </a:pathLst>
          </a:custGeom>
          <a:solidFill>
            <a:srgbClr val="E85D3F"/>
          </a:solidFill>
        </p:spPr>
      </p:sp>
      <p:sp>
        <p:nvSpPr>
          <p:cNvPr id="16" name="Text 14"/>
          <p:cNvSpPr/>
          <p:nvPr/>
        </p:nvSpPr>
        <p:spPr>
          <a:xfrm>
            <a:off x="8382000" y="4127500"/>
            <a:ext cx="3302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Content</a:t>
            </a:r>
          </a:p>
        </p:txBody>
      </p:sp>
      <p:sp>
        <p:nvSpPr>
          <p:cNvPr id="17" name="Text 15"/>
          <p:cNvSpPr/>
          <p:nvPr/>
        </p:nvSpPr>
        <p:spPr>
          <a:xfrm>
            <a:off x="8636000" y="4572000"/>
            <a:ext cx="2794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Analyzes email body text for phishing indicators</a:t>
            </a:r>
          </a:p>
        </p:txBody>
      </p:sp>
      <p:sp>
        <p:nvSpPr>
          <p:cNvPr id="18" name="Shape 16"/>
          <p:cNvSpPr/>
          <p:nvPr/>
        </p:nvSpPr>
        <p:spPr>
          <a:xfrm>
            <a:off x="12192000" y="3048000"/>
            <a:ext cx="3302000" cy="2794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9" name="Shape 17"/>
          <p:cNvSpPr/>
          <p:nvPr/>
        </p:nvSpPr>
        <p:spPr>
          <a:xfrm>
            <a:off x="13462000" y="3302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462470" y="119062"/>
                </a:moveTo>
                <a:cubicBezTo>
                  <a:pt x="444169" y="119062"/>
                  <a:pt x="426420" y="124644"/>
                  <a:pt x="410876" y="134813"/>
                </a:cubicBezTo>
                <a:cubicBezTo>
                  <a:pt x="393457" y="114970"/>
                  <a:pt x="373173" y="98351"/>
                  <a:pt x="350793" y="85824"/>
                </a:cubicBezTo>
                <a:cubicBezTo>
                  <a:pt x="381882" y="56059"/>
                  <a:pt x="421459" y="39688"/>
                  <a:pt x="462470" y="39688"/>
                </a:cubicBezTo>
                <a:cubicBezTo>
                  <a:pt x="557720" y="39688"/>
                  <a:pt x="635000" y="126504"/>
                  <a:pt x="635000" y="233784"/>
                </a:cubicBezTo>
                <a:cubicBezTo>
                  <a:pt x="635000" y="285254"/>
                  <a:pt x="616810" y="334615"/>
                  <a:pt x="584509" y="370954"/>
                </a:cubicBezTo>
                <a:lnTo>
                  <a:pt x="506126" y="459135"/>
                </a:lnTo>
                <a:cubicBezTo>
                  <a:pt x="473825" y="495474"/>
                  <a:pt x="429948" y="515938"/>
                  <a:pt x="384197" y="515938"/>
                </a:cubicBezTo>
                <a:cubicBezTo>
                  <a:pt x="288947" y="515938"/>
                  <a:pt x="211667" y="429121"/>
                  <a:pt x="211667" y="321841"/>
                </a:cubicBezTo>
                <a:cubicBezTo>
                  <a:pt x="211667" y="319980"/>
                  <a:pt x="211667" y="318120"/>
                  <a:pt x="211777" y="316260"/>
                </a:cubicBezTo>
                <a:cubicBezTo>
                  <a:pt x="212328" y="294308"/>
                  <a:pt x="228534" y="277068"/>
                  <a:pt x="248047" y="277688"/>
                </a:cubicBezTo>
                <a:cubicBezTo>
                  <a:pt x="267560" y="278309"/>
                  <a:pt x="282884" y="296540"/>
                  <a:pt x="282332" y="318492"/>
                </a:cubicBezTo>
                <a:cubicBezTo>
                  <a:pt x="282332" y="319608"/>
                  <a:pt x="282332" y="320725"/>
                  <a:pt x="282332" y="321717"/>
                </a:cubicBezTo>
                <a:cubicBezTo>
                  <a:pt x="282332" y="385093"/>
                  <a:pt x="327973" y="436438"/>
                  <a:pt x="384307" y="436438"/>
                </a:cubicBezTo>
                <a:cubicBezTo>
                  <a:pt x="411317" y="436438"/>
                  <a:pt x="437224" y="424408"/>
                  <a:pt x="456406" y="402828"/>
                </a:cubicBezTo>
                <a:lnTo>
                  <a:pt x="534789" y="314647"/>
                </a:lnTo>
                <a:cubicBezTo>
                  <a:pt x="553861" y="293191"/>
                  <a:pt x="564665" y="263922"/>
                  <a:pt x="564665" y="233536"/>
                </a:cubicBezTo>
                <a:cubicBezTo>
                  <a:pt x="564665" y="170160"/>
                  <a:pt x="519024" y="118814"/>
                  <a:pt x="462690" y="118814"/>
                </a:cubicBezTo>
                <a:close/>
                <a:moveTo>
                  <a:pt x="303389" y="214933"/>
                </a:moveTo>
                <a:cubicBezTo>
                  <a:pt x="301294" y="213940"/>
                  <a:pt x="299200" y="212576"/>
                  <a:pt x="297326" y="211088"/>
                </a:cubicBezTo>
                <a:cubicBezTo>
                  <a:pt x="283435" y="203026"/>
                  <a:pt x="267560" y="198438"/>
                  <a:pt x="250913" y="198438"/>
                </a:cubicBezTo>
                <a:cubicBezTo>
                  <a:pt x="223904" y="198438"/>
                  <a:pt x="197997" y="210468"/>
                  <a:pt x="178814" y="232048"/>
                </a:cubicBezTo>
                <a:lnTo>
                  <a:pt x="100431" y="320229"/>
                </a:lnTo>
                <a:cubicBezTo>
                  <a:pt x="81359" y="341685"/>
                  <a:pt x="70556" y="370954"/>
                  <a:pt x="70556" y="401340"/>
                </a:cubicBezTo>
                <a:cubicBezTo>
                  <a:pt x="70556" y="464716"/>
                  <a:pt x="116196" y="516062"/>
                  <a:pt x="172530" y="516062"/>
                </a:cubicBezTo>
                <a:cubicBezTo>
                  <a:pt x="190720" y="516062"/>
                  <a:pt x="208470" y="510604"/>
                  <a:pt x="224014" y="500435"/>
                </a:cubicBezTo>
                <a:cubicBezTo>
                  <a:pt x="241432" y="520278"/>
                  <a:pt x="261717" y="536897"/>
                  <a:pt x="284207" y="549424"/>
                </a:cubicBezTo>
                <a:cubicBezTo>
                  <a:pt x="253118" y="579065"/>
                  <a:pt x="213651" y="595561"/>
                  <a:pt x="172530" y="595561"/>
                </a:cubicBezTo>
                <a:cubicBezTo>
                  <a:pt x="77280" y="595561"/>
                  <a:pt x="0" y="508744"/>
                  <a:pt x="0" y="401464"/>
                </a:cubicBezTo>
                <a:cubicBezTo>
                  <a:pt x="0" y="349994"/>
                  <a:pt x="18190" y="300633"/>
                  <a:pt x="50491" y="264294"/>
                </a:cubicBezTo>
                <a:lnTo>
                  <a:pt x="128874" y="176113"/>
                </a:lnTo>
                <a:cubicBezTo>
                  <a:pt x="161175" y="139774"/>
                  <a:pt x="205052" y="119311"/>
                  <a:pt x="250803" y="119311"/>
                </a:cubicBezTo>
                <a:cubicBezTo>
                  <a:pt x="346273" y="119311"/>
                  <a:pt x="423333" y="206871"/>
                  <a:pt x="423333" y="313903"/>
                </a:cubicBezTo>
                <a:cubicBezTo>
                  <a:pt x="423333" y="315516"/>
                  <a:pt x="423333" y="317128"/>
                  <a:pt x="423333" y="318740"/>
                </a:cubicBezTo>
                <a:cubicBezTo>
                  <a:pt x="422892" y="340692"/>
                  <a:pt x="406687" y="357932"/>
                  <a:pt x="387174" y="357436"/>
                </a:cubicBezTo>
                <a:cubicBezTo>
                  <a:pt x="367661" y="356939"/>
                  <a:pt x="352337" y="338708"/>
                  <a:pt x="352778" y="316756"/>
                </a:cubicBezTo>
                <a:cubicBezTo>
                  <a:pt x="352778" y="315764"/>
                  <a:pt x="352778" y="314896"/>
                  <a:pt x="352778" y="313903"/>
                </a:cubicBezTo>
                <a:cubicBezTo>
                  <a:pt x="352778" y="272107"/>
                  <a:pt x="332934" y="235396"/>
                  <a:pt x="303389" y="215181"/>
                </a:cubicBezTo>
                <a:close/>
              </a:path>
            </a:pathLst>
          </a:custGeom>
          <a:solidFill>
            <a:srgbClr val="E85D3F"/>
          </a:solidFill>
        </p:spPr>
      </p:sp>
      <p:sp>
        <p:nvSpPr>
          <p:cNvPr id="20" name="Text 18"/>
          <p:cNvSpPr/>
          <p:nvPr/>
        </p:nvSpPr>
        <p:spPr>
          <a:xfrm>
            <a:off x="12192000" y="4127500"/>
            <a:ext cx="3302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Links</a:t>
            </a:r>
          </a:p>
        </p:txBody>
      </p:sp>
      <p:sp>
        <p:nvSpPr>
          <p:cNvPr id="21" name="Text 19"/>
          <p:cNvSpPr/>
          <p:nvPr/>
        </p:nvSpPr>
        <p:spPr>
          <a:xfrm>
            <a:off x="12192000" y="4572000"/>
            <a:ext cx="329311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Checks embedded URLs for HTTPS and short URL risks</a:t>
            </a:r>
          </a:p>
        </p:txBody>
      </p:sp>
      <p:sp>
        <p:nvSpPr>
          <p:cNvPr id="22" name="Shape 20"/>
          <p:cNvSpPr/>
          <p:nvPr/>
        </p:nvSpPr>
        <p:spPr>
          <a:xfrm>
            <a:off x="508000" y="6353175"/>
            <a:ext cx="14732000" cy="762000"/>
          </a:xfrm>
          <a:prstGeom prst="rect">
            <a:avLst/>
          </a:prstGeom>
          <a:solidFill>
            <a:srgbClr val="0D1017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16000" y="6350000"/>
            <a:ext cx="14224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Result:</a:t>
            </a:r>
            <a:r>
              <a:rPr lang="en-US" sz="2200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Determines whether an email is </a:t>
            </a:r>
            <a:r>
              <a:rPr lang="en-US" sz="2200" b="1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SAFE</a:t>
            </a:r>
            <a:r>
              <a:rPr lang="en-US" sz="2200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or </a:t>
            </a:r>
            <a:r>
              <a:rPr lang="en-US" sz="2200" b="1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PHISHING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7620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100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System Workflow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270000" y="2032000"/>
            <a:ext cx="3556000" cy="889000"/>
          </a:xfrm>
          <a:prstGeom prst="rect">
            <a:avLst/>
          </a:prstGeom>
          <a:solidFill>
            <a:srgbClr val="1E2230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70000" y="2032000"/>
            <a:ext cx="355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C0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1.</a:t>
            </a:r>
            <a:r>
              <a:rPr lang="en-US" sz="2000" dirty="0">
                <a:solidFill>
                  <a:schemeClr val="bg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Email Input</a:t>
            </a:r>
          </a:p>
        </p:txBody>
      </p:sp>
      <p:sp>
        <p:nvSpPr>
          <p:cNvPr id="7" name="Shape 5"/>
          <p:cNvSpPr/>
          <p:nvPr/>
        </p:nvSpPr>
        <p:spPr>
          <a:xfrm>
            <a:off x="3048000" y="2921000"/>
            <a:ext cx="0" cy="508000"/>
          </a:xfrm>
          <a:prstGeom prst="straightConnector1">
            <a:avLst/>
          </a:prstGeom>
          <a:noFill/>
          <a:ln w="25400">
            <a:solidFill>
              <a:srgbClr val="E85D3F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1270000" y="3429000"/>
            <a:ext cx="3556000" cy="889000"/>
          </a:xfrm>
          <a:prstGeom prst="rect">
            <a:avLst/>
          </a:prstGeom>
          <a:solidFill>
            <a:srgbClr val="1E2230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70000" y="3429000"/>
            <a:ext cx="355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C0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2. </a:t>
            </a:r>
            <a:r>
              <a:rPr lang="en-US" sz="2000" dirty="0">
                <a:solidFill>
                  <a:schemeClr val="bg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Sender Verification</a:t>
            </a:r>
          </a:p>
        </p:txBody>
      </p:sp>
      <p:sp>
        <p:nvSpPr>
          <p:cNvPr id="10" name="Shape 8"/>
          <p:cNvSpPr/>
          <p:nvPr/>
        </p:nvSpPr>
        <p:spPr>
          <a:xfrm>
            <a:off x="3048000" y="4318000"/>
            <a:ext cx="0" cy="508000"/>
          </a:xfrm>
          <a:prstGeom prst="straightConnector1">
            <a:avLst/>
          </a:prstGeom>
          <a:noFill/>
          <a:ln w="25400">
            <a:solidFill>
              <a:srgbClr val="E85D3F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1270000" y="4826000"/>
            <a:ext cx="3556000" cy="889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2" name="Text 10"/>
          <p:cNvSpPr/>
          <p:nvPr/>
        </p:nvSpPr>
        <p:spPr>
          <a:xfrm>
            <a:off x="1270000" y="4826000"/>
            <a:ext cx="355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5A62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3.</a:t>
            </a:r>
            <a:r>
              <a:rPr lang="en-US" sz="2000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Keyword Detection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048000" y="5715000"/>
            <a:ext cx="0" cy="508000"/>
          </a:xfrm>
          <a:prstGeom prst="straightConnector1">
            <a:avLst/>
          </a:prstGeom>
          <a:noFill/>
          <a:ln w="25400">
            <a:solidFill>
              <a:srgbClr val="E85D3F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270000" y="6223000"/>
            <a:ext cx="3556000" cy="889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5" name="Text 13"/>
          <p:cNvSpPr/>
          <p:nvPr/>
        </p:nvSpPr>
        <p:spPr>
          <a:xfrm>
            <a:off x="1270000" y="6223000"/>
            <a:ext cx="355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5A62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4.</a:t>
            </a:r>
            <a:r>
              <a:rPr lang="en-US" sz="2000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Link Analysis</a:t>
            </a:r>
          </a:p>
        </p:txBody>
      </p:sp>
      <p:sp>
        <p:nvSpPr>
          <p:cNvPr id="16" name="Shape 14"/>
          <p:cNvSpPr/>
          <p:nvPr/>
        </p:nvSpPr>
        <p:spPr>
          <a:xfrm>
            <a:off x="3048000" y="7112000"/>
            <a:ext cx="0" cy="508000"/>
          </a:xfrm>
          <a:prstGeom prst="straightConnector1">
            <a:avLst/>
          </a:prstGeom>
          <a:noFill/>
          <a:ln w="25400">
            <a:solidFill>
              <a:srgbClr val="E85D3F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270000" y="7620000"/>
            <a:ext cx="3556000" cy="889000"/>
          </a:xfrm>
          <a:prstGeom prst="rect">
            <a:avLst/>
          </a:prstGeom>
          <a:solidFill>
            <a:srgbClr val="1E2230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70000" y="7620000"/>
            <a:ext cx="355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5A62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5.</a:t>
            </a:r>
            <a:r>
              <a:rPr lang="en-US" sz="2000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Risk Scoring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366000" y="4318000"/>
            <a:ext cx="3556000" cy="889000"/>
          </a:xfrm>
          <a:prstGeom prst="rect">
            <a:avLst/>
          </a:prstGeom>
          <a:solidFill>
            <a:srgbClr val="E85D3F"/>
          </a:solidFill>
        </p:spPr>
      </p:sp>
      <p:sp>
        <p:nvSpPr>
          <p:cNvPr id="20" name="Text 18"/>
          <p:cNvSpPr/>
          <p:nvPr/>
        </p:nvSpPr>
        <p:spPr>
          <a:xfrm>
            <a:off x="7366000" y="4368800"/>
            <a:ext cx="3556000" cy="787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6. Final Classification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826000" y="4762500"/>
            <a:ext cx="2540000" cy="0"/>
          </a:xfrm>
          <a:prstGeom prst="straightConnector1">
            <a:avLst/>
          </a:prstGeom>
          <a:noFill/>
          <a:ln w="25400">
            <a:solidFill>
              <a:srgbClr val="E85D3F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1938000" y="3302000"/>
            <a:ext cx="3302000" cy="889000"/>
          </a:xfrm>
          <a:prstGeom prst="rect">
            <a:avLst/>
          </a:prstGeom>
          <a:solidFill>
            <a:srgbClr val="1E3A2F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2192000" y="3530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4ADE80"/>
          </a:solidFill>
        </p:spPr>
      </p:sp>
      <p:sp>
        <p:nvSpPr>
          <p:cNvPr id="24" name="Text 22"/>
          <p:cNvSpPr/>
          <p:nvPr/>
        </p:nvSpPr>
        <p:spPr>
          <a:xfrm>
            <a:off x="12700000" y="3302000"/>
            <a:ext cx="228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4ADE8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SAFE</a:t>
            </a:r>
          </a:p>
        </p:txBody>
      </p:sp>
      <p:sp>
        <p:nvSpPr>
          <p:cNvPr id="25" name="Shape 23"/>
          <p:cNvSpPr/>
          <p:nvPr/>
        </p:nvSpPr>
        <p:spPr>
          <a:xfrm>
            <a:off x="11938000" y="5334000"/>
            <a:ext cx="3302000" cy="889000"/>
          </a:xfrm>
          <a:prstGeom prst="rect">
            <a:avLst/>
          </a:prstGeom>
          <a:solidFill>
            <a:srgbClr val="3A1E1E"/>
          </a:solidFill>
        </p:spPr>
      </p:sp>
      <p:sp>
        <p:nvSpPr>
          <p:cNvPr id="26" name="Shape 24"/>
          <p:cNvSpPr/>
          <p:nvPr/>
        </p:nvSpPr>
        <p:spPr>
          <a:xfrm>
            <a:off x="12192000" y="5562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124271" y="124271"/>
                </a:moveTo>
                <a:cubicBezTo>
                  <a:pt x="131266" y="117277"/>
                  <a:pt x="142577" y="117277"/>
                  <a:pt x="149498" y="124271"/>
                </a:cubicBezTo>
                <a:lnTo>
                  <a:pt x="190426" y="165199"/>
                </a:lnTo>
                <a:lnTo>
                  <a:pt x="231353" y="124271"/>
                </a:lnTo>
                <a:cubicBezTo>
                  <a:pt x="238348" y="117277"/>
                  <a:pt x="249659" y="117277"/>
                  <a:pt x="256580" y="124271"/>
                </a:cubicBezTo>
                <a:cubicBezTo>
                  <a:pt x="263500" y="131266"/>
                  <a:pt x="263575" y="142577"/>
                  <a:pt x="256580" y="149498"/>
                </a:cubicBezTo>
                <a:lnTo>
                  <a:pt x="215652" y="190426"/>
                </a:lnTo>
                <a:lnTo>
                  <a:pt x="256580" y="231353"/>
                </a:lnTo>
                <a:cubicBezTo>
                  <a:pt x="263575" y="238348"/>
                  <a:pt x="263575" y="249659"/>
                  <a:pt x="256580" y="256580"/>
                </a:cubicBezTo>
                <a:cubicBezTo>
                  <a:pt x="249585" y="263500"/>
                  <a:pt x="238274" y="263575"/>
                  <a:pt x="231353" y="256580"/>
                </a:cubicBezTo>
                <a:lnTo>
                  <a:pt x="190426" y="215652"/>
                </a:lnTo>
                <a:lnTo>
                  <a:pt x="149498" y="256580"/>
                </a:lnTo>
                <a:cubicBezTo>
                  <a:pt x="142503" y="263575"/>
                  <a:pt x="131192" y="263575"/>
                  <a:pt x="124271" y="256580"/>
                </a:cubicBezTo>
                <a:cubicBezTo>
                  <a:pt x="117351" y="249585"/>
                  <a:pt x="117277" y="238274"/>
                  <a:pt x="124271" y="231353"/>
                </a:cubicBezTo>
                <a:lnTo>
                  <a:pt x="165199" y="190426"/>
                </a:lnTo>
                <a:lnTo>
                  <a:pt x="124271" y="149498"/>
                </a:lnTo>
                <a:cubicBezTo>
                  <a:pt x="117277" y="142503"/>
                  <a:pt x="117277" y="131192"/>
                  <a:pt x="124271" y="124271"/>
                </a:cubicBezTo>
                <a:close/>
              </a:path>
            </a:pathLst>
          </a:custGeom>
          <a:solidFill>
            <a:srgbClr val="E85D3F"/>
          </a:solidFill>
        </p:spPr>
      </p:sp>
      <p:sp>
        <p:nvSpPr>
          <p:cNvPr id="27" name="Text 25"/>
          <p:cNvSpPr/>
          <p:nvPr/>
        </p:nvSpPr>
        <p:spPr>
          <a:xfrm>
            <a:off x="12700000" y="5334000"/>
            <a:ext cx="228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5D3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PHISHING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 flipV="1">
            <a:off x="10922000" y="4318000"/>
            <a:ext cx="1016000" cy="762000"/>
          </a:xfrm>
          <a:prstGeom prst="straightConnector1">
            <a:avLst/>
          </a:prstGeom>
          <a:noFill/>
          <a:ln w="25400">
            <a:solidFill>
              <a:srgbClr val="4ADE80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10922000" y="5207000"/>
            <a:ext cx="1016000" cy="762000"/>
          </a:xfrm>
          <a:prstGeom prst="straightConnector1">
            <a:avLst/>
          </a:prstGeom>
          <a:noFill/>
          <a:ln w="25400">
            <a:solidFill>
              <a:srgbClr val="E85D3F"/>
            </a:solidFill>
            <a:prstDash val="solid"/>
            <a:headEnd type="none"/>
            <a:tailEnd type="arrow"/>
          </a:ln>
        </p:spPr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7620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100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Class Structure — Email Class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1714500"/>
            <a:ext cx="254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kern="0" spc="200" dirty="0">
                <a:solidFill>
                  <a:srgbClr val="E85D3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ATTRIBUTES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2222500"/>
            <a:ext cx="6604000" cy="3556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7" name="Shape 5"/>
          <p:cNvSpPr/>
          <p:nvPr/>
        </p:nvSpPr>
        <p:spPr>
          <a:xfrm>
            <a:off x="1079500" y="2476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8100"/>
                </a:moveTo>
                <a:cubicBezTo>
                  <a:pt x="89297" y="38100"/>
                  <a:pt x="38100" y="89297"/>
                  <a:pt x="38100" y="152400"/>
                </a:cubicBezTo>
                <a:cubicBezTo>
                  <a:pt x="38100" y="215503"/>
                  <a:pt x="89297" y="266700"/>
                  <a:pt x="152400" y="266700"/>
                </a:cubicBezTo>
                <a:cubicBezTo>
                  <a:pt x="162937" y="266700"/>
                  <a:pt x="171450" y="275213"/>
                  <a:pt x="171450" y="285750"/>
                </a:cubicBezTo>
                <a:cubicBezTo>
                  <a:pt x="171450" y="296287"/>
                  <a:pt x="162937" y="304800"/>
                  <a:pt x="152400" y="304800"/>
                </a:cubicBezTo>
                <a:cubicBezTo>
                  <a:pt x="68223" y="304800"/>
                  <a:pt x="0" y="236577"/>
                  <a:pt x="0" y="152400"/>
                </a:cubicBezTo>
                <a:cubicBezTo>
                  <a:pt x="0" y="68223"/>
                  <a:pt x="68223" y="0"/>
                  <a:pt x="152400" y="0"/>
                </a:cubicBezTo>
                <a:cubicBezTo>
                  <a:pt x="236577" y="0"/>
                  <a:pt x="304800" y="68223"/>
                  <a:pt x="304800" y="152400"/>
                </a:cubicBezTo>
                <a:lnTo>
                  <a:pt x="304800" y="171450"/>
                </a:lnTo>
                <a:cubicBezTo>
                  <a:pt x="304800" y="203002"/>
                  <a:pt x="279202" y="228600"/>
                  <a:pt x="247650" y="228600"/>
                </a:cubicBezTo>
                <a:cubicBezTo>
                  <a:pt x="230207" y="228600"/>
                  <a:pt x="214551" y="220742"/>
                  <a:pt x="204073" y="208419"/>
                </a:cubicBezTo>
                <a:cubicBezTo>
                  <a:pt x="190500" y="220920"/>
                  <a:pt x="172343" y="228600"/>
                  <a:pt x="152400" y="228600"/>
                </a:cubicBezTo>
                <a:cubicBezTo>
                  <a:pt x="110311" y="228600"/>
                  <a:pt x="76200" y="194489"/>
                  <a:pt x="76200" y="152400"/>
                </a:cubicBezTo>
                <a:cubicBezTo>
                  <a:pt x="76200" y="110311"/>
                  <a:pt x="110311" y="76200"/>
                  <a:pt x="152400" y="76200"/>
                </a:cubicBezTo>
                <a:cubicBezTo>
                  <a:pt x="169009" y="76200"/>
                  <a:pt x="184368" y="81498"/>
                  <a:pt x="196870" y="90547"/>
                </a:cubicBezTo>
                <a:cubicBezTo>
                  <a:pt x="200263" y="87570"/>
                  <a:pt x="204668" y="85725"/>
                  <a:pt x="209550" y="85725"/>
                </a:cubicBezTo>
                <a:cubicBezTo>
                  <a:pt x="220087" y="85725"/>
                  <a:pt x="228600" y="94238"/>
                  <a:pt x="228600" y="104775"/>
                </a:cubicBezTo>
                <a:lnTo>
                  <a:pt x="228600" y="171450"/>
                </a:lnTo>
                <a:cubicBezTo>
                  <a:pt x="228600" y="181987"/>
                  <a:pt x="237113" y="190500"/>
                  <a:pt x="247650" y="190500"/>
                </a:cubicBezTo>
                <a:cubicBezTo>
                  <a:pt x="258187" y="190500"/>
                  <a:pt x="266700" y="181987"/>
                  <a:pt x="266700" y="171450"/>
                </a:cubicBezTo>
                <a:lnTo>
                  <a:pt x="266700" y="152400"/>
                </a:lnTo>
                <a:cubicBezTo>
                  <a:pt x="266700" y="89297"/>
                  <a:pt x="215503" y="38100"/>
                  <a:pt x="152400" y="38100"/>
                </a:cubicBezTo>
                <a:close/>
                <a:moveTo>
                  <a:pt x="190500" y="152400"/>
                </a:moveTo>
                <a:cubicBezTo>
                  <a:pt x="190500" y="131372"/>
                  <a:pt x="173428" y="114300"/>
                  <a:pt x="152400" y="114300"/>
                </a:cubicBezTo>
                <a:cubicBezTo>
                  <a:pt x="131372" y="114300"/>
                  <a:pt x="114300" y="131372"/>
                  <a:pt x="114300" y="152400"/>
                </a:cubicBezTo>
                <a:cubicBezTo>
                  <a:pt x="114300" y="173428"/>
                  <a:pt x="131372" y="190500"/>
                  <a:pt x="152400" y="190500"/>
                </a:cubicBezTo>
                <a:cubicBezTo>
                  <a:pt x="173428" y="190500"/>
                  <a:pt x="190500" y="173428"/>
                  <a:pt x="190500" y="152400"/>
                </a:cubicBezTo>
                <a:close/>
              </a:path>
            </a:pathLst>
          </a:custGeom>
          <a:solidFill>
            <a:srgbClr val="F5A623"/>
          </a:solidFill>
        </p:spPr>
      </p:sp>
      <p:sp>
        <p:nvSpPr>
          <p:cNvPr id="8" name="Text 6"/>
          <p:cNvSpPr/>
          <p:nvPr/>
        </p:nvSpPr>
        <p:spPr>
          <a:xfrm>
            <a:off x="1524000" y="2413000"/>
            <a:ext cx="5588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Sender</a:t>
            </a:r>
            <a:r>
              <a:rPr lang="en-US" sz="22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email source address</a:t>
            </a:r>
          </a:p>
        </p:txBody>
      </p:sp>
      <p:sp>
        <p:nvSpPr>
          <p:cNvPr id="9" name="Shape 7"/>
          <p:cNvSpPr/>
          <p:nvPr/>
        </p:nvSpPr>
        <p:spPr>
          <a:xfrm>
            <a:off x="1079500" y="3111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38100"/>
                </a:moveTo>
                <a:cubicBezTo>
                  <a:pt x="0" y="27563"/>
                  <a:pt x="9729" y="19050"/>
                  <a:pt x="21771" y="19050"/>
                </a:cubicBezTo>
                <a:lnTo>
                  <a:pt x="87086" y="19050"/>
                </a:lnTo>
                <a:cubicBezTo>
                  <a:pt x="99128" y="19050"/>
                  <a:pt x="108857" y="27563"/>
                  <a:pt x="108857" y="38100"/>
                </a:cubicBezTo>
                <a:cubicBezTo>
                  <a:pt x="108857" y="48637"/>
                  <a:pt x="99128" y="57150"/>
                  <a:pt x="87086" y="57150"/>
                </a:cubicBezTo>
                <a:lnTo>
                  <a:pt x="76200" y="57150"/>
                </a:lnTo>
                <a:lnTo>
                  <a:pt x="76200" y="123825"/>
                </a:lnTo>
                <a:lnTo>
                  <a:pt x="228600" y="123825"/>
                </a:lnTo>
                <a:lnTo>
                  <a:pt x="228600" y="57150"/>
                </a:lnTo>
                <a:lnTo>
                  <a:pt x="217714" y="57150"/>
                </a:lnTo>
                <a:cubicBezTo>
                  <a:pt x="205672" y="57150"/>
                  <a:pt x="195943" y="48637"/>
                  <a:pt x="195943" y="38100"/>
                </a:cubicBezTo>
                <a:cubicBezTo>
                  <a:pt x="195943" y="27563"/>
                  <a:pt x="205672" y="19050"/>
                  <a:pt x="217714" y="19050"/>
                </a:cubicBezTo>
                <a:lnTo>
                  <a:pt x="283029" y="19050"/>
                </a:lnTo>
                <a:cubicBezTo>
                  <a:pt x="295071" y="19050"/>
                  <a:pt x="304800" y="27563"/>
                  <a:pt x="304800" y="38100"/>
                </a:cubicBezTo>
                <a:cubicBezTo>
                  <a:pt x="304800" y="48637"/>
                  <a:pt x="295071" y="57150"/>
                  <a:pt x="283029" y="57150"/>
                </a:cubicBezTo>
                <a:lnTo>
                  <a:pt x="272143" y="57150"/>
                </a:lnTo>
                <a:lnTo>
                  <a:pt x="272143" y="247650"/>
                </a:lnTo>
                <a:lnTo>
                  <a:pt x="283029" y="247650"/>
                </a:lnTo>
                <a:cubicBezTo>
                  <a:pt x="295071" y="247650"/>
                  <a:pt x="304800" y="256163"/>
                  <a:pt x="304800" y="266700"/>
                </a:cubicBezTo>
                <a:cubicBezTo>
                  <a:pt x="304800" y="277237"/>
                  <a:pt x="295071" y="285750"/>
                  <a:pt x="283029" y="285750"/>
                </a:cubicBezTo>
                <a:lnTo>
                  <a:pt x="217714" y="285750"/>
                </a:lnTo>
                <a:cubicBezTo>
                  <a:pt x="205672" y="285750"/>
                  <a:pt x="195943" y="277237"/>
                  <a:pt x="195943" y="266700"/>
                </a:cubicBezTo>
                <a:cubicBezTo>
                  <a:pt x="195943" y="256163"/>
                  <a:pt x="205672" y="247650"/>
                  <a:pt x="217714" y="247650"/>
                </a:cubicBezTo>
                <a:lnTo>
                  <a:pt x="228600" y="247650"/>
                </a:lnTo>
                <a:lnTo>
                  <a:pt x="228600" y="161925"/>
                </a:lnTo>
                <a:lnTo>
                  <a:pt x="76200" y="161925"/>
                </a:lnTo>
                <a:lnTo>
                  <a:pt x="76200" y="247650"/>
                </a:lnTo>
                <a:lnTo>
                  <a:pt x="87086" y="247650"/>
                </a:lnTo>
                <a:cubicBezTo>
                  <a:pt x="99128" y="247650"/>
                  <a:pt x="108857" y="256163"/>
                  <a:pt x="108857" y="266700"/>
                </a:cubicBezTo>
                <a:cubicBezTo>
                  <a:pt x="108857" y="277237"/>
                  <a:pt x="99128" y="285750"/>
                  <a:pt x="87086" y="285750"/>
                </a:cubicBezTo>
                <a:lnTo>
                  <a:pt x="21771" y="285750"/>
                </a:lnTo>
                <a:cubicBezTo>
                  <a:pt x="9729" y="285750"/>
                  <a:pt x="0" y="277237"/>
                  <a:pt x="0" y="266700"/>
                </a:cubicBezTo>
                <a:cubicBezTo>
                  <a:pt x="0" y="256163"/>
                  <a:pt x="9729" y="247650"/>
                  <a:pt x="21771" y="247650"/>
                </a:cubicBezTo>
                <a:lnTo>
                  <a:pt x="32657" y="247650"/>
                </a:lnTo>
                <a:lnTo>
                  <a:pt x="32657" y="57150"/>
                </a:lnTo>
                <a:lnTo>
                  <a:pt x="21771" y="57150"/>
                </a:lnTo>
                <a:cubicBezTo>
                  <a:pt x="9729" y="57150"/>
                  <a:pt x="0" y="48637"/>
                  <a:pt x="0" y="38100"/>
                </a:cubicBezTo>
                <a:close/>
              </a:path>
            </a:pathLst>
          </a:custGeom>
          <a:solidFill>
            <a:srgbClr val="F5A623"/>
          </a:solidFill>
        </p:spPr>
      </p:sp>
      <p:sp>
        <p:nvSpPr>
          <p:cNvPr id="10" name="Text 8"/>
          <p:cNvSpPr/>
          <p:nvPr/>
        </p:nvSpPr>
        <p:spPr>
          <a:xfrm>
            <a:off x="1524000" y="3048000"/>
            <a:ext cx="5588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Subject</a:t>
            </a:r>
            <a:r>
              <a:rPr lang="en-US" sz="22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email subject line</a:t>
            </a:r>
          </a:p>
        </p:txBody>
      </p:sp>
      <p:sp>
        <p:nvSpPr>
          <p:cNvPr id="11" name="Shape 9"/>
          <p:cNvSpPr/>
          <p:nvPr/>
        </p:nvSpPr>
        <p:spPr>
          <a:xfrm>
            <a:off x="1079500" y="3746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5943" y="38100"/>
                </a:moveTo>
                <a:cubicBezTo>
                  <a:pt x="195943" y="48637"/>
                  <a:pt x="186214" y="57150"/>
                  <a:pt x="174171" y="57150"/>
                </a:cubicBezTo>
                <a:lnTo>
                  <a:pt x="21771" y="57150"/>
                </a:lnTo>
                <a:cubicBezTo>
                  <a:pt x="9729" y="57150"/>
                  <a:pt x="0" y="48637"/>
                  <a:pt x="0" y="38100"/>
                </a:cubicBezTo>
                <a:cubicBezTo>
                  <a:pt x="0" y="27563"/>
                  <a:pt x="9729" y="19050"/>
                  <a:pt x="21771" y="19050"/>
                </a:cubicBezTo>
                <a:lnTo>
                  <a:pt x="174171" y="19050"/>
                </a:lnTo>
                <a:cubicBezTo>
                  <a:pt x="186214" y="19050"/>
                  <a:pt x="195943" y="27563"/>
                  <a:pt x="195943" y="38100"/>
                </a:cubicBezTo>
                <a:close/>
                <a:moveTo>
                  <a:pt x="195943" y="190500"/>
                </a:moveTo>
                <a:cubicBezTo>
                  <a:pt x="195943" y="201037"/>
                  <a:pt x="186214" y="209550"/>
                  <a:pt x="174171" y="209550"/>
                </a:cubicBezTo>
                <a:lnTo>
                  <a:pt x="21771" y="209550"/>
                </a:lnTo>
                <a:cubicBezTo>
                  <a:pt x="9729" y="209550"/>
                  <a:pt x="0" y="201037"/>
                  <a:pt x="0" y="190500"/>
                </a:cubicBezTo>
                <a:cubicBezTo>
                  <a:pt x="0" y="179963"/>
                  <a:pt x="9729" y="171450"/>
                  <a:pt x="21771" y="171450"/>
                </a:cubicBezTo>
                <a:lnTo>
                  <a:pt x="174171" y="171450"/>
                </a:lnTo>
                <a:cubicBezTo>
                  <a:pt x="186214" y="171450"/>
                  <a:pt x="195943" y="179963"/>
                  <a:pt x="195943" y="190500"/>
                </a:cubicBezTo>
                <a:close/>
                <a:moveTo>
                  <a:pt x="0" y="114300"/>
                </a:moveTo>
                <a:cubicBezTo>
                  <a:pt x="0" y="103763"/>
                  <a:pt x="9729" y="95250"/>
                  <a:pt x="21771" y="95250"/>
                </a:cubicBezTo>
                <a:lnTo>
                  <a:pt x="283029" y="95250"/>
                </a:lnTo>
                <a:cubicBezTo>
                  <a:pt x="295071" y="95250"/>
                  <a:pt x="304800" y="103763"/>
                  <a:pt x="304800" y="114300"/>
                </a:cubicBezTo>
                <a:cubicBezTo>
                  <a:pt x="304800" y="124837"/>
                  <a:pt x="295071" y="133350"/>
                  <a:pt x="283029" y="133350"/>
                </a:cubicBezTo>
                <a:lnTo>
                  <a:pt x="21771" y="133350"/>
                </a:lnTo>
                <a:cubicBezTo>
                  <a:pt x="9729" y="133350"/>
                  <a:pt x="0" y="124837"/>
                  <a:pt x="0" y="114300"/>
                </a:cubicBezTo>
                <a:close/>
                <a:moveTo>
                  <a:pt x="304800" y="266700"/>
                </a:moveTo>
                <a:cubicBezTo>
                  <a:pt x="304800" y="277237"/>
                  <a:pt x="295071" y="285750"/>
                  <a:pt x="283029" y="285750"/>
                </a:cubicBezTo>
                <a:lnTo>
                  <a:pt x="21771" y="285750"/>
                </a:lnTo>
                <a:cubicBezTo>
                  <a:pt x="9729" y="285750"/>
                  <a:pt x="0" y="277237"/>
                  <a:pt x="0" y="266700"/>
                </a:cubicBezTo>
                <a:cubicBezTo>
                  <a:pt x="0" y="256163"/>
                  <a:pt x="9729" y="247650"/>
                  <a:pt x="21771" y="247650"/>
                </a:cubicBezTo>
                <a:lnTo>
                  <a:pt x="283029" y="247650"/>
                </a:lnTo>
                <a:cubicBezTo>
                  <a:pt x="295071" y="247650"/>
                  <a:pt x="304800" y="256163"/>
                  <a:pt x="304800" y="266700"/>
                </a:cubicBezTo>
                <a:close/>
              </a:path>
            </a:pathLst>
          </a:custGeom>
          <a:solidFill>
            <a:srgbClr val="F5A623"/>
          </a:solidFill>
        </p:spPr>
      </p:sp>
      <p:sp>
        <p:nvSpPr>
          <p:cNvPr id="12" name="Text 10"/>
          <p:cNvSpPr/>
          <p:nvPr/>
        </p:nvSpPr>
        <p:spPr>
          <a:xfrm>
            <a:off x="1524000" y="3683000"/>
            <a:ext cx="5588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Content</a:t>
            </a:r>
            <a:r>
              <a:rPr lang="en-US" sz="22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email body text</a:t>
            </a:r>
          </a:p>
        </p:txBody>
      </p:sp>
      <p:sp>
        <p:nvSpPr>
          <p:cNvPr id="13" name="Shape 11"/>
          <p:cNvSpPr/>
          <p:nvPr/>
        </p:nvSpPr>
        <p:spPr>
          <a:xfrm>
            <a:off x="1079500" y="4381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21985" y="57150"/>
                </a:moveTo>
                <a:cubicBezTo>
                  <a:pt x="213201" y="57150"/>
                  <a:pt x="204682" y="59829"/>
                  <a:pt x="197220" y="64710"/>
                </a:cubicBezTo>
                <a:cubicBezTo>
                  <a:pt x="188860" y="55185"/>
                  <a:pt x="179123" y="47208"/>
                  <a:pt x="168381" y="41196"/>
                </a:cubicBezTo>
                <a:cubicBezTo>
                  <a:pt x="183303" y="26908"/>
                  <a:pt x="202300" y="19050"/>
                  <a:pt x="221985" y="19050"/>
                </a:cubicBezTo>
                <a:cubicBezTo>
                  <a:pt x="267705" y="19050"/>
                  <a:pt x="304800" y="60722"/>
                  <a:pt x="304800" y="112216"/>
                </a:cubicBezTo>
                <a:cubicBezTo>
                  <a:pt x="304800" y="136922"/>
                  <a:pt x="296069" y="160615"/>
                  <a:pt x="280564" y="178058"/>
                </a:cubicBezTo>
                <a:lnTo>
                  <a:pt x="242940" y="220385"/>
                </a:lnTo>
                <a:cubicBezTo>
                  <a:pt x="227436" y="237827"/>
                  <a:pt x="206375" y="247650"/>
                  <a:pt x="184415" y="247650"/>
                </a:cubicBezTo>
                <a:cubicBezTo>
                  <a:pt x="138695" y="247650"/>
                  <a:pt x="101600" y="205978"/>
                  <a:pt x="101600" y="154484"/>
                </a:cubicBezTo>
                <a:cubicBezTo>
                  <a:pt x="101600" y="153591"/>
                  <a:pt x="101600" y="152698"/>
                  <a:pt x="101653" y="151805"/>
                </a:cubicBezTo>
                <a:cubicBezTo>
                  <a:pt x="101918" y="141268"/>
                  <a:pt x="109696" y="132993"/>
                  <a:pt x="119062" y="133290"/>
                </a:cubicBezTo>
                <a:cubicBezTo>
                  <a:pt x="128429" y="133588"/>
                  <a:pt x="135784" y="142339"/>
                  <a:pt x="135520" y="152876"/>
                </a:cubicBezTo>
                <a:cubicBezTo>
                  <a:pt x="135520" y="153412"/>
                  <a:pt x="135520" y="153948"/>
                  <a:pt x="135520" y="154424"/>
                </a:cubicBezTo>
                <a:cubicBezTo>
                  <a:pt x="135520" y="184845"/>
                  <a:pt x="157427" y="209490"/>
                  <a:pt x="184468" y="209490"/>
                </a:cubicBezTo>
                <a:cubicBezTo>
                  <a:pt x="197432" y="209490"/>
                  <a:pt x="209868" y="203716"/>
                  <a:pt x="219075" y="193358"/>
                </a:cubicBezTo>
                <a:lnTo>
                  <a:pt x="256699" y="151031"/>
                </a:lnTo>
                <a:cubicBezTo>
                  <a:pt x="265853" y="140732"/>
                  <a:pt x="271039" y="126683"/>
                  <a:pt x="271039" y="112097"/>
                </a:cubicBezTo>
                <a:cubicBezTo>
                  <a:pt x="271039" y="81677"/>
                  <a:pt x="249132" y="57031"/>
                  <a:pt x="222091" y="57031"/>
                </a:cubicBezTo>
                <a:close/>
                <a:moveTo>
                  <a:pt x="145627" y="103168"/>
                </a:moveTo>
                <a:cubicBezTo>
                  <a:pt x="144621" y="102691"/>
                  <a:pt x="143616" y="102037"/>
                  <a:pt x="142716" y="101322"/>
                </a:cubicBezTo>
                <a:cubicBezTo>
                  <a:pt x="136049" y="97453"/>
                  <a:pt x="128429" y="95250"/>
                  <a:pt x="120438" y="95250"/>
                </a:cubicBezTo>
                <a:cubicBezTo>
                  <a:pt x="107474" y="95250"/>
                  <a:pt x="95038" y="101025"/>
                  <a:pt x="85831" y="111383"/>
                </a:cubicBezTo>
                <a:lnTo>
                  <a:pt x="48207" y="153710"/>
                </a:lnTo>
                <a:cubicBezTo>
                  <a:pt x="39052" y="164009"/>
                  <a:pt x="33867" y="178058"/>
                  <a:pt x="33867" y="192643"/>
                </a:cubicBezTo>
                <a:cubicBezTo>
                  <a:pt x="33867" y="223064"/>
                  <a:pt x="55774" y="247710"/>
                  <a:pt x="82815" y="247710"/>
                </a:cubicBezTo>
                <a:cubicBezTo>
                  <a:pt x="91546" y="247710"/>
                  <a:pt x="100065" y="245090"/>
                  <a:pt x="107527" y="240209"/>
                </a:cubicBezTo>
                <a:cubicBezTo>
                  <a:pt x="115888" y="249734"/>
                  <a:pt x="125624" y="257711"/>
                  <a:pt x="136419" y="263723"/>
                </a:cubicBezTo>
                <a:cubicBezTo>
                  <a:pt x="121497" y="277951"/>
                  <a:pt x="102553" y="285869"/>
                  <a:pt x="82815" y="285869"/>
                </a:cubicBezTo>
                <a:cubicBezTo>
                  <a:pt x="37095" y="285869"/>
                  <a:pt x="0" y="244197"/>
                  <a:pt x="0" y="192703"/>
                </a:cubicBezTo>
                <a:cubicBezTo>
                  <a:pt x="0" y="167997"/>
                  <a:pt x="8731" y="144304"/>
                  <a:pt x="24236" y="126861"/>
                </a:cubicBezTo>
                <a:lnTo>
                  <a:pt x="61860" y="84534"/>
                </a:lnTo>
                <a:cubicBezTo>
                  <a:pt x="77364" y="67092"/>
                  <a:pt x="98425" y="57269"/>
                  <a:pt x="120385" y="57269"/>
                </a:cubicBezTo>
                <a:cubicBezTo>
                  <a:pt x="166211" y="57269"/>
                  <a:pt x="203200" y="99298"/>
                  <a:pt x="203200" y="150674"/>
                </a:cubicBezTo>
                <a:cubicBezTo>
                  <a:pt x="203200" y="151448"/>
                  <a:pt x="203200" y="152221"/>
                  <a:pt x="203200" y="152995"/>
                </a:cubicBezTo>
                <a:cubicBezTo>
                  <a:pt x="202988" y="163532"/>
                  <a:pt x="195210" y="171807"/>
                  <a:pt x="185843" y="171569"/>
                </a:cubicBezTo>
                <a:cubicBezTo>
                  <a:pt x="176477" y="171331"/>
                  <a:pt x="169122" y="162580"/>
                  <a:pt x="169333" y="152043"/>
                </a:cubicBezTo>
                <a:cubicBezTo>
                  <a:pt x="169333" y="151567"/>
                  <a:pt x="169333" y="151150"/>
                  <a:pt x="169333" y="150674"/>
                </a:cubicBezTo>
                <a:cubicBezTo>
                  <a:pt x="169333" y="130612"/>
                  <a:pt x="159808" y="112990"/>
                  <a:pt x="145627" y="103287"/>
                </a:cubicBezTo>
                <a:close/>
              </a:path>
            </a:pathLst>
          </a:custGeom>
          <a:solidFill>
            <a:srgbClr val="F5A623"/>
          </a:solidFill>
        </p:spPr>
      </p:sp>
      <p:sp>
        <p:nvSpPr>
          <p:cNvPr id="14" name="Text 12"/>
          <p:cNvSpPr/>
          <p:nvPr/>
        </p:nvSpPr>
        <p:spPr>
          <a:xfrm>
            <a:off x="1524000" y="4318000"/>
            <a:ext cx="5588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Link</a:t>
            </a:r>
            <a:r>
              <a:rPr lang="en-US" sz="22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embedded URL</a:t>
            </a:r>
          </a:p>
        </p:txBody>
      </p:sp>
      <p:sp>
        <p:nvSpPr>
          <p:cNvPr id="15" name="Text 13"/>
          <p:cNvSpPr/>
          <p:nvPr/>
        </p:nvSpPr>
        <p:spPr>
          <a:xfrm>
            <a:off x="8382000" y="1714500"/>
            <a:ext cx="254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kern="0" spc="200" dirty="0">
                <a:solidFill>
                  <a:srgbClr val="E85D3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METHODS</a:t>
            </a:r>
          </a:p>
        </p:txBody>
      </p:sp>
      <p:sp>
        <p:nvSpPr>
          <p:cNvPr id="16" name="Shape 14"/>
          <p:cNvSpPr/>
          <p:nvPr/>
        </p:nvSpPr>
        <p:spPr>
          <a:xfrm>
            <a:off x="8382000" y="2222500"/>
            <a:ext cx="7112000" cy="3556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7" name="Shape 15"/>
          <p:cNvSpPr/>
          <p:nvPr/>
        </p:nvSpPr>
        <p:spPr>
          <a:xfrm>
            <a:off x="8699500" y="2476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F5A623"/>
          </a:solidFill>
        </p:spPr>
      </p:sp>
      <p:sp>
        <p:nvSpPr>
          <p:cNvPr id="18" name="Text 16"/>
          <p:cNvSpPr/>
          <p:nvPr/>
        </p:nvSpPr>
        <p:spPr>
          <a:xfrm>
            <a:off x="9144000" y="2413000"/>
            <a:ext cx="6096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getSender()</a:t>
            </a:r>
            <a:r>
              <a:rPr lang="en-US" sz="22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returns sender address</a:t>
            </a:r>
          </a:p>
        </p:txBody>
      </p:sp>
      <p:sp>
        <p:nvSpPr>
          <p:cNvPr id="19" name="Shape 17"/>
          <p:cNvSpPr/>
          <p:nvPr/>
        </p:nvSpPr>
        <p:spPr>
          <a:xfrm>
            <a:off x="8699500" y="3111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F5A623"/>
          </a:solidFill>
        </p:spPr>
      </p:sp>
      <p:sp>
        <p:nvSpPr>
          <p:cNvPr id="20" name="Text 18"/>
          <p:cNvSpPr/>
          <p:nvPr/>
        </p:nvSpPr>
        <p:spPr>
          <a:xfrm>
            <a:off x="9144000" y="3048000"/>
            <a:ext cx="6096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getSubject()</a:t>
            </a:r>
            <a:r>
              <a:rPr lang="en-US" sz="22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returns subject line</a:t>
            </a:r>
          </a:p>
        </p:txBody>
      </p:sp>
      <p:sp>
        <p:nvSpPr>
          <p:cNvPr id="21" name="Shape 19"/>
          <p:cNvSpPr/>
          <p:nvPr/>
        </p:nvSpPr>
        <p:spPr>
          <a:xfrm>
            <a:off x="8699500" y="3746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F5A623"/>
          </a:solidFill>
        </p:spPr>
      </p:sp>
      <p:sp>
        <p:nvSpPr>
          <p:cNvPr id="22" name="Text 20"/>
          <p:cNvSpPr/>
          <p:nvPr/>
        </p:nvSpPr>
        <p:spPr>
          <a:xfrm>
            <a:off x="9144000" y="3683000"/>
            <a:ext cx="6096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getContent()</a:t>
            </a:r>
            <a:r>
              <a:rPr lang="en-US" sz="22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returns body content</a:t>
            </a:r>
          </a:p>
        </p:txBody>
      </p:sp>
      <p:sp>
        <p:nvSpPr>
          <p:cNvPr id="23" name="Shape 21"/>
          <p:cNvSpPr/>
          <p:nvPr/>
        </p:nvSpPr>
        <p:spPr>
          <a:xfrm>
            <a:off x="8699500" y="4381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F5A623"/>
          </a:solidFill>
        </p:spPr>
      </p:sp>
      <p:sp>
        <p:nvSpPr>
          <p:cNvPr id="24" name="Text 22"/>
          <p:cNvSpPr/>
          <p:nvPr/>
        </p:nvSpPr>
        <p:spPr>
          <a:xfrm>
            <a:off x="9144000" y="4318000"/>
            <a:ext cx="6096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getLink()</a:t>
            </a:r>
            <a:r>
              <a:rPr lang="en-US" sz="22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returns embedded URL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7620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100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Sender Verification Module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17145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kern="0" spc="200" dirty="0">
                <a:solidFill>
                  <a:srgbClr val="E85D3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TRUSTED DOMAINS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2222500"/>
            <a:ext cx="6350000" cy="3048000"/>
          </a:xfrm>
          <a:prstGeom prst="rect">
            <a:avLst/>
          </a:prstGeom>
          <a:solidFill>
            <a:srgbClr val="1E2230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9500" y="254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4ADE80"/>
          </a:solidFill>
        </p:spPr>
      </p:sp>
      <p:sp>
        <p:nvSpPr>
          <p:cNvPr id="8" name="Text 6"/>
          <p:cNvSpPr/>
          <p:nvPr/>
        </p:nvSpPr>
        <p:spPr>
          <a:xfrm>
            <a:off x="1524000" y="2489200"/>
            <a:ext cx="5334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@uftb.edu.bd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79500" y="317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4ADE80"/>
          </a:solidFill>
        </p:spPr>
      </p:sp>
      <p:sp>
        <p:nvSpPr>
          <p:cNvPr id="10" name="Text 8"/>
          <p:cNvSpPr/>
          <p:nvPr/>
        </p:nvSpPr>
        <p:spPr>
          <a:xfrm>
            <a:off x="1524000" y="3124200"/>
            <a:ext cx="5334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@gmail.com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79500" y="381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4ADE80"/>
          </a:solidFill>
        </p:spPr>
      </p:sp>
      <p:sp>
        <p:nvSpPr>
          <p:cNvPr id="12" name="Text 10"/>
          <p:cNvSpPr/>
          <p:nvPr/>
        </p:nvSpPr>
        <p:spPr>
          <a:xfrm>
            <a:off x="1524000" y="3759200"/>
            <a:ext cx="5334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@yahoo.com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128000" y="17145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kern="0" spc="200" dirty="0">
                <a:solidFill>
                  <a:srgbClr val="E85D3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DETECTION LOGIC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28000" y="2222500"/>
            <a:ext cx="7366000" cy="3048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6" name="Shape 14"/>
          <p:cNvSpPr/>
          <p:nvPr/>
        </p:nvSpPr>
        <p:spPr>
          <a:xfrm>
            <a:off x="8636000" y="2540000"/>
            <a:ext cx="2540000" cy="635000"/>
          </a:xfrm>
          <a:prstGeom prst="rect">
            <a:avLst/>
          </a:prstGeom>
          <a:solidFill>
            <a:srgbClr val="0D1017"/>
          </a:solidFill>
        </p:spPr>
      </p:sp>
      <p:sp>
        <p:nvSpPr>
          <p:cNvPr id="17" name="Text 15"/>
          <p:cNvSpPr/>
          <p:nvPr/>
        </p:nvSpPr>
        <p:spPr>
          <a:xfrm>
            <a:off x="8636000" y="2540000"/>
            <a:ext cx="25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Unknown Domain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1303000" y="2857500"/>
            <a:ext cx="508000" cy="0"/>
          </a:xfrm>
          <a:prstGeom prst="straightConnector1">
            <a:avLst/>
          </a:prstGeom>
          <a:noFill/>
          <a:ln w="25400">
            <a:solidFill>
              <a:srgbClr val="E85D3F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1938000" y="2540000"/>
            <a:ext cx="2540000" cy="635000"/>
          </a:xfrm>
          <a:prstGeom prst="rect">
            <a:avLst/>
          </a:prstGeom>
          <a:solidFill>
            <a:srgbClr val="0D1017"/>
          </a:solidFill>
        </p:spPr>
      </p:sp>
      <p:sp>
        <p:nvSpPr>
          <p:cNvPr id="20" name="Text 18"/>
          <p:cNvSpPr/>
          <p:nvPr/>
        </p:nvSpPr>
        <p:spPr>
          <a:xfrm>
            <a:off x="11938000" y="2540000"/>
            <a:ext cx="25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5A62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Add Risk Score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3208000" y="3175000"/>
            <a:ext cx="0" cy="381000"/>
          </a:xfrm>
          <a:prstGeom prst="straightConnector1">
            <a:avLst/>
          </a:prstGeom>
          <a:noFill/>
          <a:ln w="25400">
            <a:solidFill>
              <a:srgbClr val="E85D3F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1938000" y="3556000"/>
            <a:ext cx="2540000" cy="635000"/>
          </a:xfrm>
          <a:prstGeom prst="rect">
            <a:avLst/>
          </a:prstGeom>
          <a:solidFill>
            <a:srgbClr val="3A1E1E"/>
          </a:solidFill>
        </p:spPr>
      </p:sp>
      <p:sp>
        <p:nvSpPr>
          <p:cNvPr id="23" name="Text 21"/>
          <p:cNvSpPr/>
          <p:nvPr/>
        </p:nvSpPr>
        <p:spPr>
          <a:xfrm>
            <a:off x="11938000" y="3556000"/>
            <a:ext cx="25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E85D3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Generate Warning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779000" y="444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0" y="95250"/>
                </a:moveTo>
                <a:cubicBezTo>
                  <a:pt x="508000" y="145058"/>
                  <a:pt x="449362" y="219373"/>
                  <a:pt x="424061" y="249039"/>
                </a:cubicBezTo>
                <a:cubicBezTo>
                  <a:pt x="420291" y="253405"/>
                  <a:pt x="414734" y="255091"/>
                  <a:pt x="409674" y="254000"/>
                </a:cubicBezTo>
                <a:lnTo>
                  <a:pt x="317500" y="254000"/>
                </a:lnTo>
                <a:cubicBezTo>
                  <a:pt x="299938" y="254000"/>
                  <a:pt x="285750" y="268188"/>
                  <a:pt x="285750" y="285750"/>
                </a:cubicBezTo>
                <a:cubicBezTo>
                  <a:pt x="285750" y="303312"/>
                  <a:pt x="299938" y="317500"/>
                  <a:pt x="317500" y="317500"/>
                </a:cubicBezTo>
                <a:lnTo>
                  <a:pt x="412750" y="317500"/>
                </a:lnTo>
                <a:cubicBezTo>
                  <a:pt x="465336" y="317500"/>
                  <a:pt x="508000" y="360164"/>
                  <a:pt x="508000" y="412750"/>
                </a:cubicBezTo>
                <a:cubicBezTo>
                  <a:pt x="508000" y="465336"/>
                  <a:pt x="465336" y="508000"/>
                  <a:pt x="412750" y="508000"/>
                </a:cubicBezTo>
                <a:lnTo>
                  <a:pt x="138509" y="508000"/>
                </a:lnTo>
                <a:cubicBezTo>
                  <a:pt x="147141" y="498177"/>
                  <a:pt x="157659" y="485577"/>
                  <a:pt x="168275" y="471488"/>
                </a:cubicBezTo>
                <a:cubicBezTo>
                  <a:pt x="174526" y="463153"/>
                  <a:pt x="180975" y="454025"/>
                  <a:pt x="187127" y="444500"/>
                </a:cubicBezTo>
                <a:lnTo>
                  <a:pt x="412750" y="444500"/>
                </a:lnTo>
                <a:cubicBezTo>
                  <a:pt x="430312" y="444500"/>
                  <a:pt x="444500" y="430312"/>
                  <a:pt x="444500" y="412750"/>
                </a:cubicBezTo>
                <a:cubicBezTo>
                  <a:pt x="444500" y="395188"/>
                  <a:pt x="430312" y="381000"/>
                  <a:pt x="412750" y="381000"/>
                </a:cubicBezTo>
                <a:lnTo>
                  <a:pt x="317500" y="381000"/>
                </a:lnTo>
                <a:cubicBezTo>
                  <a:pt x="264914" y="381000"/>
                  <a:pt x="222250" y="338336"/>
                  <a:pt x="222250" y="285750"/>
                </a:cubicBezTo>
                <a:cubicBezTo>
                  <a:pt x="222250" y="233164"/>
                  <a:pt x="264914" y="190500"/>
                  <a:pt x="317500" y="190500"/>
                </a:cubicBezTo>
                <a:lnTo>
                  <a:pt x="356989" y="190500"/>
                </a:lnTo>
                <a:cubicBezTo>
                  <a:pt x="336153" y="159246"/>
                  <a:pt x="317500" y="123329"/>
                  <a:pt x="317500" y="95250"/>
                </a:cubicBezTo>
                <a:cubicBezTo>
                  <a:pt x="317500" y="42664"/>
                  <a:pt x="360164" y="0"/>
                  <a:pt x="412750" y="0"/>
                </a:cubicBezTo>
                <a:cubicBezTo>
                  <a:pt x="465336" y="0"/>
                  <a:pt x="508000" y="42664"/>
                  <a:pt x="508000" y="95250"/>
                </a:cubicBezTo>
                <a:close/>
                <a:moveTo>
                  <a:pt x="116185" y="485279"/>
                </a:moveTo>
                <a:cubicBezTo>
                  <a:pt x="112415" y="489545"/>
                  <a:pt x="109041" y="493316"/>
                  <a:pt x="106164" y="496491"/>
                </a:cubicBezTo>
                <a:lnTo>
                  <a:pt x="104378" y="498475"/>
                </a:lnTo>
                <a:lnTo>
                  <a:pt x="104180" y="498277"/>
                </a:lnTo>
                <a:cubicBezTo>
                  <a:pt x="98227" y="502841"/>
                  <a:pt x="89694" y="502245"/>
                  <a:pt x="84336" y="496491"/>
                </a:cubicBezTo>
                <a:cubicBezTo>
                  <a:pt x="59333" y="469305"/>
                  <a:pt x="0" y="399355"/>
                  <a:pt x="0" y="349250"/>
                </a:cubicBezTo>
                <a:cubicBezTo>
                  <a:pt x="0" y="296664"/>
                  <a:pt x="42664" y="254000"/>
                  <a:pt x="95250" y="254000"/>
                </a:cubicBezTo>
                <a:cubicBezTo>
                  <a:pt x="147836" y="254000"/>
                  <a:pt x="190500" y="296664"/>
                  <a:pt x="190500" y="349250"/>
                </a:cubicBezTo>
                <a:cubicBezTo>
                  <a:pt x="190500" y="379016"/>
                  <a:pt x="169565" y="415727"/>
                  <a:pt x="147340" y="446385"/>
                </a:cubicBezTo>
                <a:cubicBezTo>
                  <a:pt x="136723" y="460970"/>
                  <a:pt x="125809" y="474166"/>
                  <a:pt x="116780" y="484584"/>
                </a:cubicBezTo>
                <a:lnTo>
                  <a:pt x="116185" y="485279"/>
                </a:lnTo>
                <a:close/>
                <a:moveTo>
                  <a:pt x="127000" y="349250"/>
                </a:moveTo>
                <a:cubicBezTo>
                  <a:pt x="127000" y="331727"/>
                  <a:pt x="112773" y="317500"/>
                  <a:pt x="95250" y="317500"/>
                </a:cubicBezTo>
                <a:cubicBezTo>
                  <a:pt x="77727" y="317500"/>
                  <a:pt x="63500" y="331727"/>
                  <a:pt x="63500" y="349250"/>
                </a:cubicBezTo>
                <a:cubicBezTo>
                  <a:pt x="63500" y="366773"/>
                  <a:pt x="77727" y="381000"/>
                  <a:pt x="95250" y="381000"/>
                </a:cubicBezTo>
                <a:cubicBezTo>
                  <a:pt x="112773" y="381000"/>
                  <a:pt x="127000" y="366773"/>
                  <a:pt x="127000" y="349250"/>
                </a:cubicBezTo>
                <a:close/>
                <a:moveTo>
                  <a:pt x="412750" y="127000"/>
                </a:moveTo>
                <a:cubicBezTo>
                  <a:pt x="430273" y="127000"/>
                  <a:pt x="444500" y="112773"/>
                  <a:pt x="444500" y="95250"/>
                </a:cubicBezTo>
                <a:cubicBezTo>
                  <a:pt x="444500" y="77727"/>
                  <a:pt x="430273" y="63500"/>
                  <a:pt x="412750" y="63500"/>
                </a:cubicBezTo>
                <a:cubicBezTo>
                  <a:pt x="395227" y="63500"/>
                  <a:pt x="381000" y="77727"/>
                  <a:pt x="381000" y="95250"/>
                </a:cubicBezTo>
                <a:cubicBezTo>
                  <a:pt x="381000" y="112773"/>
                  <a:pt x="395227" y="127000"/>
                  <a:pt x="412750" y="127000"/>
                </a:cubicBezTo>
                <a:close/>
              </a:path>
            </a:pathLst>
          </a:custGeom>
          <a:solidFill>
            <a:srgbClr val="6B7280">
              <a:alpha val="30000"/>
            </a:srgbClr>
          </a:solidFill>
        </p:spPr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7620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100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Keyword Detection Module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17145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kern="0" spc="200" dirty="0">
                <a:solidFill>
                  <a:srgbClr val="E85D3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SUSPICIOUS KEYWORDS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62000" y="2286000"/>
            <a:ext cx="2286000" cy="6985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7" name="Text 5"/>
          <p:cNvSpPr/>
          <p:nvPr/>
        </p:nvSpPr>
        <p:spPr>
          <a:xfrm>
            <a:off x="762000" y="2286000"/>
            <a:ext cx="2286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Lottery</a:t>
            </a:r>
          </a:p>
        </p:txBody>
      </p:sp>
      <p:sp>
        <p:nvSpPr>
          <p:cNvPr id="8" name="Shape 6"/>
          <p:cNvSpPr/>
          <p:nvPr/>
        </p:nvSpPr>
        <p:spPr>
          <a:xfrm>
            <a:off x="3302000" y="2286000"/>
            <a:ext cx="2286000" cy="6985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9" name="Text 7"/>
          <p:cNvSpPr/>
          <p:nvPr/>
        </p:nvSpPr>
        <p:spPr>
          <a:xfrm>
            <a:off x="3302000" y="2286000"/>
            <a:ext cx="2286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Urgent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842000" y="2286000"/>
            <a:ext cx="2286000" cy="6985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1" name="Text 9"/>
          <p:cNvSpPr/>
          <p:nvPr/>
        </p:nvSpPr>
        <p:spPr>
          <a:xfrm>
            <a:off x="5842000" y="2286000"/>
            <a:ext cx="2286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Verify Password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62000" y="3238500"/>
            <a:ext cx="2286000" cy="6985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3" name="Text 11"/>
          <p:cNvSpPr/>
          <p:nvPr/>
        </p:nvSpPr>
        <p:spPr>
          <a:xfrm>
            <a:off x="762000" y="3238500"/>
            <a:ext cx="2286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Click Here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302000" y="3238500"/>
            <a:ext cx="2286000" cy="6985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5" name="Text 13"/>
          <p:cNvSpPr/>
          <p:nvPr/>
        </p:nvSpPr>
        <p:spPr>
          <a:xfrm>
            <a:off x="3302000" y="3238500"/>
            <a:ext cx="2286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Free Reward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842000" y="3238500"/>
            <a:ext cx="2286000" cy="6985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7" name="Text 15"/>
          <p:cNvSpPr/>
          <p:nvPr/>
        </p:nvSpPr>
        <p:spPr>
          <a:xfrm>
            <a:off x="5842000" y="3238500"/>
            <a:ext cx="2286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Bank Account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0" y="17145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kern="0" spc="200" dirty="0">
                <a:solidFill>
                  <a:srgbClr val="E85D3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IF FOUND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44000" y="2286000"/>
            <a:ext cx="6350000" cy="1651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20" name="Shape 18"/>
          <p:cNvSpPr/>
          <p:nvPr/>
        </p:nvSpPr>
        <p:spPr>
          <a:xfrm>
            <a:off x="9525000" y="279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38667" y="158750"/>
                </a:moveTo>
                <a:cubicBezTo>
                  <a:pt x="323056" y="158750"/>
                  <a:pt x="310444" y="144562"/>
                  <a:pt x="310444" y="127000"/>
                </a:cubicBezTo>
                <a:cubicBezTo>
                  <a:pt x="310444" y="109438"/>
                  <a:pt x="323056" y="95250"/>
                  <a:pt x="338667" y="95250"/>
                </a:cubicBezTo>
                <a:lnTo>
                  <a:pt x="479778" y="95250"/>
                </a:lnTo>
                <a:cubicBezTo>
                  <a:pt x="495388" y="95250"/>
                  <a:pt x="508000" y="109438"/>
                  <a:pt x="508000" y="127000"/>
                </a:cubicBezTo>
                <a:lnTo>
                  <a:pt x="508000" y="285750"/>
                </a:lnTo>
                <a:cubicBezTo>
                  <a:pt x="508000" y="303312"/>
                  <a:pt x="495388" y="317500"/>
                  <a:pt x="479778" y="317500"/>
                </a:cubicBezTo>
                <a:cubicBezTo>
                  <a:pt x="464167" y="317500"/>
                  <a:pt x="451556" y="303312"/>
                  <a:pt x="451556" y="285750"/>
                </a:cubicBezTo>
                <a:lnTo>
                  <a:pt x="451556" y="203696"/>
                </a:lnTo>
                <a:lnTo>
                  <a:pt x="302154" y="371773"/>
                </a:lnTo>
                <a:cubicBezTo>
                  <a:pt x="291130" y="384175"/>
                  <a:pt x="273226" y="384175"/>
                  <a:pt x="262202" y="371773"/>
                </a:cubicBezTo>
                <a:lnTo>
                  <a:pt x="169333" y="267196"/>
                </a:lnTo>
                <a:lnTo>
                  <a:pt x="48154" y="403423"/>
                </a:lnTo>
                <a:cubicBezTo>
                  <a:pt x="37130" y="415826"/>
                  <a:pt x="19226" y="415826"/>
                  <a:pt x="8202" y="403423"/>
                </a:cubicBezTo>
                <a:cubicBezTo>
                  <a:pt x="-2822" y="391021"/>
                  <a:pt x="-2822" y="370880"/>
                  <a:pt x="8202" y="358477"/>
                </a:cubicBezTo>
                <a:lnTo>
                  <a:pt x="149313" y="199727"/>
                </a:lnTo>
                <a:cubicBezTo>
                  <a:pt x="160338" y="187325"/>
                  <a:pt x="178241" y="187325"/>
                  <a:pt x="189265" y="199727"/>
                </a:cubicBezTo>
                <a:lnTo>
                  <a:pt x="282222" y="304304"/>
                </a:lnTo>
                <a:lnTo>
                  <a:pt x="411603" y="158750"/>
                </a:lnTo>
                <a:lnTo>
                  <a:pt x="338667" y="158750"/>
                </a:lnTo>
                <a:close/>
              </a:path>
            </a:pathLst>
          </a:custGeom>
          <a:solidFill>
            <a:srgbClr val="F5A623"/>
          </a:solidFill>
        </p:spPr>
      </p:sp>
      <p:sp>
        <p:nvSpPr>
          <p:cNvPr id="21" name="Text 19"/>
          <p:cNvSpPr/>
          <p:nvPr/>
        </p:nvSpPr>
        <p:spPr>
          <a:xfrm>
            <a:off x="10287000" y="2540000"/>
            <a:ext cx="48260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Increase </a:t>
            </a:r>
            <a:r>
              <a:rPr lang="en-US" sz="2200" b="1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Score</a:t>
            </a:r>
            <a:endParaRPr lang="en-US" sz="2200" dirty="0"/>
          </a:p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6B728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+2 points per keyword match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44000" y="43180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kern="0" spc="200" dirty="0">
                <a:solidFill>
                  <a:srgbClr val="E85D3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776335" y="4953000"/>
            <a:ext cx="6717665" cy="1972310"/>
          </a:xfrm>
          <a:prstGeom prst="rect">
            <a:avLst/>
          </a:prstGeom>
          <a:solidFill>
            <a:srgbClr val="0D1017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9080" y="4953000"/>
            <a:ext cx="5963920" cy="158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1. Scan email subject and body text</a:t>
            </a:r>
            <a:endParaRPr lang="en-US" sz="2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2. Match against keyword database</a:t>
            </a:r>
            <a:endParaRPr lang="en-US" sz="2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chemeClr val="accent4">
                    <a:lumMod val="40000"/>
                    <a:lumOff val="60000"/>
                  </a:scheme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3. Increment risk score for each hit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0"/>
            <a:ext cx="16257270" cy="54444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960" y="6651625"/>
            <a:ext cx="12313285" cy="1492885"/>
          </a:xfrm>
          <a:prstGeom prst="rect">
            <a:avLst/>
          </a:prstGeom>
        </p:spPr>
      </p:pic>
      <p:graphicFrame>
        <p:nvGraphicFramePr>
          <p:cNvPr id="5" name="Table 4"/>
          <p:cNvGraphicFramePr/>
          <p:nvPr/>
        </p:nvGraphicFramePr>
        <p:xfrm>
          <a:off x="381635" y="5920740"/>
          <a:ext cx="1838325" cy="746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46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Output: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7620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100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Link Security Module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17145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kern="0" spc="200" dirty="0">
                <a:solidFill>
                  <a:srgbClr val="E85D3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HTTPS VERIFICATION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62000" y="2222500"/>
            <a:ext cx="6858000" cy="2540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7" name="Shape 5"/>
          <p:cNvSpPr/>
          <p:nvPr/>
        </p:nvSpPr>
        <p:spPr>
          <a:xfrm>
            <a:off x="1143000" y="254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18533" y="66675"/>
                </a:moveTo>
                <a:lnTo>
                  <a:pt x="118533" y="111125"/>
                </a:lnTo>
                <a:lnTo>
                  <a:pt x="237067" y="111125"/>
                </a:lnTo>
                <a:lnTo>
                  <a:pt x="237067" y="66675"/>
                </a:lnTo>
                <a:cubicBezTo>
                  <a:pt x="237067" y="42158"/>
                  <a:pt x="210489" y="22225"/>
                  <a:pt x="177800" y="22225"/>
                </a:cubicBezTo>
                <a:cubicBezTo>
                  <a:pt x="145111" y="22225"/>
                  <a:pt x="118533" y="42158"/>
                  <a:pt x="118533" y="66675"/>
                </a:cubicBezTo>
                <a:close/>
                <a:moveTo>
                  <a:pt x="59267" y="111125"/>
                </a:moveTo>
                <a:lnTo>
                  <a:pt x="59267" y="66675"/>
                </a:lnTo>
                <a:cubicBezTo>
                  <a:pt x="59267" y="17572"/>
                  <a:pt x="112329" y="-22225"/>
                  <a:pt x="177800" y="-22225"/>
                </a:cubicBezTo>
                <a:cubicBezTo>
                  <a:pt x="243271" y="-22225"/>
                  <a:pt x="296333" y="17572"/>
                  <a:pt x="296333" y="66675"/>
                </a:cubicBezTo>
                <a:lnTo>
                  <a:pt x="296333" y="111125"/>
                </a:lnTo>
                <a:cubicBezTo>
                  <a:pt x="329023" y="111125"/>
                  <a:pt x="355600" y="131058"/>
                  <a:pt x="355600" y="155575"/>
                </a:cubicBezTo>
                <a:lnTo>
                  <a:pt x="355600" y="311150"/>
                </a:lnTo>
                <a:cubicBezTo>
                  <a:pt x="355600" y="335667"/>
                  <a:pt x="329023" y="355600"/>
                  <a:pt x="296333" y="355600"/>
                </a:cubicBezTo>
                <a:lnTo>
                  <a:pt x="59267" y="355600"/>
                </a:lnTo>
                <a:cubicBezTo>
                  <a:pt x="26577" y="355600"/>
                  <a:pt x="0" y="335667"/>
                  <a:pt x="0" y="311150"/>
                </a:cubicBezTo>
                <a:lnTo>
                  <a:pt x="0" y="155575"/>
                </a:lnTo>
                <a:cubicBezTo>
                  <a:pt x="0" y="131058"/>
                  <a:pt x="26577" y="111125"/>
                  <a:pt x="59267" y="111125"/>
                </a:cubicBezTo>
                <a:close/>
              </a:path>
            </a:pathLst>
          </a:custGeom>
          <a:solidFill>
            <a:srgbClr val="4ADE80"/>
          </a:solidFill>
        </p:spPr>
      </p:sp>
      <p:sp>
        <p:nvSpPr>
          <p:cNvPr id="8" name="Text 6"/>
          <p:cNvSpPr/>
          <p:nvPr/>
        </p:nvSpPr>
        <p:spPr>
          <a:xfrm>
            <a:off x="1651000" y="2489200"/>
            <a:ext cx="558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4ADE8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✓</a:t>
            </a:r>
            <a:r>
              <a:rPr lang="en-US" sz="2200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  <a:r>
              <a:rPr lang="en-US" sz="2200" b="1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https://</a:t>
            </a:r>
            <a:r>
              <a:rPr lang="en-US" sz="2200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secure.com </a:t>
            </a:r>
            <a:r>
              <a:rPr lang="en-US" sz="2200" dirty="0">
                <a:solidFill>
                  <a:srgbClr val="4ADE8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(Safe)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143000" y="323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7067" y="66675"/>
                </a:moveTo>
                <a:cubicBezTo>
                  <a:pt x="237067" y="42158"/>
                  <a:pt x="254785" y="22225"/>
                  <a:pt x="276578" y="22225"/>
                </a:cubicBezTo>
                <a:cubicBezTo>
                  <a:pt x="298371" y="22225"/>
                  <a:pt x="316089" y="42158"/>
                  <a:pt x="316089" y="66675"/>
                </a:cubicBezTo>
                <a:lnTo>
                  <a:pt x="316089" y="88900"/>
                </a:lnTo>
                <a:cubicBezTo>
                  <a:pt x="316089" y="101193"/>
                  <a:pt x="324917" y="111125"/>
                  <a:pt x="335844" y="111125"/>
                </a:cubicBezTo>
                <a:cubicBezTo>
                  <a:pt x="346772" y="111125"/>
                  <a:pt x="355600" y="101193"/>
                  <a:pt x="355600" y="88900"/>
                </a:cubicBezTo>
                <a:lnTo>
                  <a:pt x="355600" y="66675"/>
                </a:lnTo>
                <a:cubicBezTo>
                  <a:pt x="355600" y="17572"/>
                  <a:pt x="320225" y="-22225"/>
                  <a:pt x="276578" y="-22225"/>
                </a:cubicBezTo>
                <a:cubicBezTo>
                  <a:pt x="232930" y="-22225"/>
                  <a:pt x="197556" y="17572"/>
                  <a:pt x="197556" y="66675"/>
                </a:cubicBezTo>
                <a:lnTo>
                  <a:pt x="197556" y="111125"/>
                </a:lnTo>
                <a:lnTo>
                  <a:pt x="98778" y="111125"/>
                </a:lnTo>
                <a:cubicBezTo>
                  <a:pt x="76985" y="111125"/>
                  <a:pt x="59267" y="131058"/>
                  <a:pt x="59267" y="155575"/>
                </a:cubicBezTo>
                <a:lnTo>
                  <a:pt x="59267" y="311150"/>
                </a:lnTo>
                <a:cubicBezTo>
                  <a:pt x="59267" y="335667"/>
                  <a:pt x="76985" y="355600"/>
                  <a:pt x="98778" y="355600"/>
                </a:cubicBezTo>
                <a:lnTo>
                  <a:pt x="256822" y="355600"/>
                </a:lnTo>
                <a:cubicBezTo>
                  <a:pt x="278615" y="355600"/>
                  <a:pt x="296333" y="335667"/>
                  <a:pt x="296333" y="311150"/>
                </a:cubicBezTo>
                <a:lnTo>
                  <a:pt x="296333" y="155575"/>
                </a:lnTo>
                <a:cubicBezTo>
                  <a:pt x="296333" y="131058"/>
                  <a:pt x="278615" y="111125"/>
                  <a:pt x="256822" y="111125"/>
                </a:cubicBezTo>
                <a:lnTo>
                  <a:pt x="237067" y="111125"/>
                </a:lnTo>
                <a:lnTo>
                  <a:pt x="237067" y="66675"/>
                </a:lnTo>
                <a:close/>
              </a:path>
            </a:pathLst>
          </a:custGeom>
          <a:solidFill>
            <a:srgbClr val="E85D3F"/>
          </a:solidFill>
        </p:spPr>
      </p:sp>
      <p:sp>
        <p:nvSpPr>
          <p:cNvPr id="10" name="Text 8"/>
          <p:cNvSpPr/>
          <p:nvPr/>
        </p:nvSpPr>
        <p:spPr>
          <a:xfrm>
            <a:off x="1651000" y="3187700"/>
            <a:ext cx="558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E85D3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✗</a:t>
            </a:r>
            <a:r>
              <a:rPr lang="en-US" sz="1800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  <a:r>
              <a:rPr lang="en-US" sz="2200" b="1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http://</a:t>
            </a:r>
            <a:r>
              <a:rPr lang="en-US" sz="2200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secure.com </a:t>
            </a:r>
            <a:r>
              <a:rPr lang="en-US" sz="2200" dirty="0">
                <a:solidFill>
                  <a:srgbClr val="E85D3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(Unsafe)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82000" y="17145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kern="0" spc="200" dirty="0">
                <a:solidFill>
                  <a:srgbClr val="E85D3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SHORT URL DETECTION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382000" y="2222500"/>
            <a:ext cx="7112000" cy="2540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4" name="Shape 12"/>
          <p:cNvSpPr/>
          <p:nvPr/>
        </p:nvSpPr>
        <p:spPr>
          <a:xfrm>
            <a:off x="8763000" y="254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F5A623"/>
          </a:solidFill>
        </p:spPr>
      </p:sp>
      <p:sp>
        <p:nvSpPr>
          <p:cNvPr id="15" name="Text 13"/>
          <p:cNvSpPr/>
          <p:nvPr/>
        </p:nvSpPr>
        <p:spPr>
          <a:xfrm>
            <a:off x="9271000" y="2489200"/>
            <a:ext cx="5842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bit.ly</a:t>
            </a:r>
            <a:r>
              <a:rPr lang="en-US" sz="2200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  <a:r>
              <a:rPr lang="en-US" sz="2200" dirty="0">
                <a:solidFill>
                  <a:srgbClr val="E85D3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⚠ Suspicious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271000" y="3187700"/>
            <a:ext cx="5842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shorturl</a:t>
            </a:r>
            <a:r>
              <a:rPr lang="en-US" sz="2200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  <a:r>
              <a:rPr lang="en-US" sz="2200" dirty="0">
                <a:solidFill>
                  <a:srgbClr val="E85D3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⚠ Suspicious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40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kern="0" spc="100" dirty="0">
                <a:solidFill>
                  <a:srgbClr val="E85D3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</a:t>
            </a:r>
            <a:r>
              <a:rPr lang="en-US" sz="1400" kern="0" spc="100" dirty="0">
                <a:solidFill>
                  <a:srgbClr val="E85D3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62000" y="3111500"/>
            <a:ext cx="4572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22000" y="3111500"/>
            <a:ext cx="4572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176000" y="3556000"/>
            <a:ext cx="4064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82000" y="5905500"/>
            <a:ext cx="4572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636000" y="6350000"/>
            <a:ext cx="4064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50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rcRect b="3694"/>
          <a:stretch>
            <a:fillRect/>
          </a:stretch>
        </p:blipFill>
        <p:spPr>
          <a:xfrm>
            <a:off x="635" y="0"/>
            <a:ext cx="16256000" cy="440309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5480" y="5756275"/>
            <a:ext cx="9185910" cy="1080770"/>
          </a:xfrm>
          <a:prstGeom prst="rect">
            <a:avLst/>
          </a:prstGeom>
        </p:spPr>
      </p:pic>
      <p:graphicFrame>
        <p:nvGraphicFramePr>
          <p:cNvPr id="31" name="Table 30"/>
          <p:cNvGraphicFramePr/>
          <p:nvPr/>
        </p:nvGraphicFramePr>
        <p:xfrm>
          <a:off x="1798320" y="4921885"/>
          <a:ext cx="7935595" cy="920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35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20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Output: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7620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100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Scoring System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2540000" y="2032000"/>
          <a:ext cx="11176000" cy="4064000"/>
        </p:xfrm>
        <a:graphic>
          <a:graphicData uri="http://schemas.openxmlformats.org/drawingml/2006/table">
            <a:tbl>
              <a:tblPr/>
              <a:tblGrid>
                <a:gridCol w="670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Condition</a:t>
                      </a:r>
                      <a:endParaRPr lang="en-US" sz="2400" dirty="0">
                        <a:latin typeface="Quattrocento Sans" panose="020B0502050000020003" pitchFamily="34" charset="0"/>
                        <a:ea typeface="Quattrocento Sans" panose="020B0502050000020003" pitchFamily="34" charset="0"/>
                        <a:cs typeface="Quattrocento Sans" panose="020B0502050000020003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Score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Unknown Sender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rgbClr val="E8ECF1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+2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E8ECF1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Phishing Keyword</a:t>
                      </a:r>
                      <a:endParaRPr lang="en-US" sz="2200" dirty="0">
                        <a:latin typeface="Quattrocento Sans" panose="020B0502050000020003" pitchFamily="34" charset="0"/>
                        <a:ea typeface="Quattrocento Sans" panose="020B0502050000020003" pitchFamily="34" charset="0"/>
                        <a:cs typeface="Quattrocento Sans" panose="020B0502050000020003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rgbClr val="E8ECF1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+2</a:t>
                      </a:r>
                      <a:endParaRPr lang="en-US" sz="2200" dirty="0">
                        <a:latin typeface="Quattrocento Sans" panose="020B0502050000020003" pitchFamily="34" charset="0"/>
                        <a:ea typeface="Quattrocento Sans" panose="020B0502050000020003" pitchFamily="34" charset="0"/>
                        <a:cs typeface="Quattrocento Sans" panose="020B0502050000020003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E8ECF1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No HTTPS</a:t>
                      </a:r>
                      <a:endParaRPr lang="en-US" sz="2200" dirty="0">
                        <a:latin typeface="Quattrocento Sans" panose="020B0502050000020003" pitchFamily="34" charset="0"/>
                        <a:ea typeface="Quattrocento Sans" panose="020B0502050000020003" pitchFamily="34" charset="0"/>
                        <a:cs typeface="Quattrocento Sans" panose="020B0502050000020003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rgbClr val="E8ECF1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+3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rgbClr val="E8ECF1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Short URL</a:t>
                      </a:r>
                      <a:endParaRPr lang="en-US" sz="2200" dirty="0">
                        <a:latin typeface="Quattrocento Sans" panose="020B0502050000020003" pitchFamily="34" charset="0"/>
                        <a:ea typeface="Quattrocento Sans" panose="020B0502050000020003" pitchFamily="34" charset="0"/>
                        <a:cs typeface="Quattrocento Sans" panose="020B0502050000020003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rgbClr val="E8ECF1"/>
                          </a:solidFill>
                          <a:latin typeface="Quattrocento Sans" panose="020B0502050000020003" pitchFamily="34" charset="0"/>
                          <a:ea typeface="Quattrocento Sans" panose="020B0502050000020003" pitchFamily="34" charset="-122"/>
                          <a:cs typeface="Quattrocento Sans" panose="020B0502050000020003" pitchFamily="34" charset="-120"/>
                        </a:rPr>
                        <a:t>+2</a:t>
                      </a:r>
                      <a:endParaRPr lang="en-US" sz="2200" dirty="0">
                        <a:latin typeface="Quattrocento Sans" panose="020B0502050000020003" pitchFamily="34" charset="0"/>
                        <a:ea typeface="Quattrocento Sans" panose="020B0502050000020003" pitchFamily="34" charset="0"/>
                        <a:cs typeface="Quattrocento Sans" panose="020B0502050000020003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540000" y="6578600"/>
            <a:ext cx="11176000" cy="508000"/>
          </a:xfrm>
          <a:prstGeom prst="rect">
            <a:avLst/>
          </a:prstGeom>
          <a:solidFill>
            <a:srgbClr val="0D1017"/>
          </a:solidFill>
        </p:spPr>
      </p:sp>
      <p:sp>
        <p:nvSpPr>
          <p:cNvPr id="7" name="Text 4"/>
          <p:cNvSpPr/>
          <p:nvPr/>
        </p:nvSpPr>
        <p:spPr>
          <a:xfrm>
            <a:off x="2794000" y="6604000"/>
            <a:ext cx="1066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Higher score = </a:t>
            </a:r>
            <a:r>
              <a:rPr lang="en-US" sz="2000" b="1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Higher Risk</a:t>
            </a:r>
            <a:r>
              <a:rPr lang="en-US" sz="20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| Scores are cumulative across all checks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40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100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Classification Logic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6858000" cy="4572000"/>
          </a:xfrm>
          <a:prstGeom prst="rect">
            <a:avLst/>
          </a:prstGeom>
          <a:solidFill>
            <a:srgbClr val="1E3A2F"/>
          </a:solidFill>
        </p:spPr>
      </p:sp>
      <p:sp>
        <p:nvSpPr>
          <p:cNvPr id="6" name="Shape 4"/>
          <p:cNvSpPr/>
          <p:nvPr/>
        </p:nvSpPr>
        <p:spPr>
          <a:xfrm>
            <a:off x="3556000" y="2349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cubicBezTo>
                  <a:pt x="387846" y="0"/>
                  <a:pt x="394692" y="1488"/>
                  <a:pt x="400943" y="4316"/>
                </a:cubicBezTo>
                <a:lnTo>
                  <a:pt x="681335" y="123230"/>
                </a:lnTo>
                <a:cubicBezTo>
                  <a:pt x="714077" y="137071"/>
                  <a:pt x="738485" y="169366"/>
                  <a:pt x="738336" y="208359"/>
                </a:cubicBezTo>
                <a:cubicBezTo>
                  <a:pt x="737592" y="355997"/>
                  <a:pt x="676870" y="626120"/>
                  <a:pt x="420439" y="748903"/>
                </a:cubicBezTo>
                <a:cubicBezTo>
                  <a:pt x="395585" y="760809"/>
                  <a:pt x="366713" y="760809"/>
                  <a:pt x="341858" y="748903"/>
                </a:cubicBezTo>
                <a:cubicBezTo>
                  <a:pt x="85279" y="626120"/>
                  <a:pt x="24705" y="355997"/>
                  <a:pt x="23961" y="208359"/>
                </a:cubicBezTo>
                <a:cubicBezTo>
                  <a:pt x="23812" y="169366"/>
                  <a:pt x="48220" y="137071"/>
                  <a:pt x="80962" y="123230"/>
                </a:cubicBezTo>
                <a:lnTo>
                  <a:pt x="361206" y="4316"/>
                </a:lnTo>
                <a:cubicBezTo>
                  <a:pt x="367457" y="1488"/>
                  <a:pt x="374154" y="0"/>
                  <a:pt x="381000" y="0"/>
                </a:cubicBezTo>
                <a:close/>
                <a:moveTo>
                  <a:pt x="381000" y="99417"/>
                </a:moveTo>
                <a:lnTo>
                  <a:pt x="381000" y="662136"/>
                </a:lnTo>
                <a:cubicBezTo>
                  <a:pt x="586383" y="562719"/>
                  <a:pt x="641598" y="342454"/>
                  <a:pt x="642938" y="210592"/>
                </a:cubicBezTo>
                <a:lnTo>
                  <a:pt x="381000" y="99566"/>
                </a:lnTo>
                <a:lnTo>
                  <a:pt x="381000" y="99566"/>
                </a:lnTo>
                <a:close/>
              </a:path>
            </a:pathLst>
          </a:custGeom>
          <a:solidFill>
            <a:srgbClr val="4ADE80"/>
          </a:solidFill>
        </p:spPr>
      </p:sp>
      <p:sp>
        <p:nvSpPr>
          <p:cNvPr id="7" name="Text 5"/>
          <p:cNvSpPr/>
          <p:nvPr/>
        </p:nvSpPr>
        <p:spPr>
          <a:xfrm>
            <a:off x="762000" y="3365500"/>
            <a:ext cx="685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kern="0" spc="200" dirty="0">
                <a:solidFill>
                  <a:srgbClr val="4ADE8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SAFE EMAIL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540000" y="4000500"/>
            <a:ext cx="3302000" cy="25400"/>
          </a:xfrm>
          <a:prstGeom prst="rect">
            <a:avLst/>
          </a:prstGeom>
          <a:solidFill>
            <a:srgbClr val="4ADE80">
              <a:alpha val="50196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1016000" y="4254500"/>
            <a:ext cx="635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Score </a:t>
            </a:r>
            <a:r>
              <a:rPr lang="en-US" sz="2200" dirty="0">
                <a:solidFill>
                  <a:srgbClr val="4ADE8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&lt; 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16000" y="4889500"/>
            <a:ext cx="635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4ADE8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Low Risk — Email is safe to open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382000" y="2032000"/>
            <a:ext cx="7112000" cy="4572000"/>
          </a:xfrm>
          <a:prstGeom prst="rect">
            <a:avLst/>
          </a:prstGeom>
          <a:solidFill>
            <a:srgbClr val="3A1E1E"/>
          </a:solidFill>
        </p:spPr>
      </p:sp>
      <p:sp>
        <p:nvSpPr>
          <p:cNvPr id="12" name="Shape 10"/>
          <p:cNvSpPr/>
          <p:nvPr/>
        </p:nvSpPr>
        <p:spPr>
          <a:xfrm>
            <a:off x="11303000" y="2349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cubicBezTo>
                  <a:pt x="402878" y="0"/>
                  <a:pt x="422970" y="12055"/>
                  <a:pt x="433388" y="31254"/>
                </a:cubicBezTo>
                <a:lnTo>
                  <a:pt x="754856" y="626566"/>
                </a:lnTo>
                <a:cubicBezTo>
                  <a:pt x="764828" y="645021"/>
                  <a:pt x="764381" y="667345"/>
                  <a:pt x="753666" y="685354"/>
                </a:cubicBezTo>
                <a:cubicBezTo>
                  <a:pt x="742950" y="703362"/>
                  <a:pt x="723454" y="714375"/>
                  <a:pt x="702469" y="714375"/>
                </a:cubicBezTo>
                <a:lnTo>
                  <a:pt x="59531" y="714375"/>
                </a:lnTo>
                <a:cubicBezTo>
                  <a:pt x="38546" y="714375"/>
                  <a:pt x="19199" y="703362"/>
                  <a:pt x="8334" y="685354"/>
                </a:cubicBezTo>
                <a:cubicBezTo>
                  <a:pt x="-2530" y="667345"/>
                  <a:pt x="-2828" y="645021"/>
                  <a:pt x="7144" y="626566"/>
                </a:cubicBezTo>
                <a:lnTo>
                  <a:pt x="328613" y="31254"/>
                </a:lnTo>
                <a:cubicBezTo>
                  <a:pt x="339030" y="12055"/>
                  <a:pt x="359122" y="0"/>
                  <a:pt x="381000" y="0"/>
                </a:cubicBezTo>
                <a:close/>
                <a:moveTo>
                  <a:pt x="381000" y="250031"/>
                </a:moveTo>
                <a:cubicBezTo>
                  <a:pt x="361206" y="250031"/>
                  <a:pt x="345281" y="265956"/>
                  <a:pt x="345281" y="285750"/>
                </a:cubicBezTo>
                <a:lnTo>
                  <a:pt x="345281" y="452438"/>
                </a:lnTo>
                <a:cubicBezTo>
                  <a:pt x="345281" y="472232"/>
                  <a:pt x="361206" y="488156"/>
                  <a:pt x="381000" y="488156"/>
                </a:cubicBezTo>
                <a:cubicBezTo>
                  <a:pt x="400794" y="488156"/>
                  <a:pt x="416719" y="472232"/>
                  <a:pt x="416719" y="452438"/>
                </a:cubicBezTo>
                <a:lnTo>
                  <a:pt x="416719" y="285750"/>
                </a:lnTo>
                <a:cubicBezTo>
                  <a:pt x="416719" y="265956"/>
                  <a:pt x="400794" y="250031"/>
                  <a:pt x="381000" y="250031"/>
                </a:cubicBezTo>
                <a:close/>
                <a:moveTo>
                  <a:pt x="420737" y="571500"/>
                </a:moveTo>
                <a:cubicBezTo>
                  <a:pt x="421641" y="556750"/>
                  <a:pt x="414285" y="542717"/>
                  <a:pt x="401641" y="535068"/>
                </a:cubicBezTo>
                <a:cubicBezTo>
                  <a:pt x="388997" y="527420"/>
                  <a:pt x="373152" y="527420"/>
                  <a:pt x="360508" y="535068"/>
                </a:cubicBezTo>
                <a:cubicBezTo>
                  <a:pt x="347864" y="542717"/>
                  <a:pt x="340508" y="556750"/>
                  <a:pt x="341412" y="571500"/>
                </a:cubicBezTo>
                <a:cubicBezTo>
                  <a:pt x="340508" y="586250"/>
                  <a:pt x="347864" y="600283"/>
                  <a:pt x="360508" y="607932"/>
                </a:cubicBezTo>
                <a:cubicBezTo>
                  <a:pt x="373152" y="615580"/>
                  <a:pt x="388997" y="615580"/>
                  <a:pt x="401641" y="607932"/>
                </a:cubicBezTo>
                <a:cubicBezTo>
                  <a:pt x="414285" y="600283"/>
                  <a:pt x="421641" y="586250"/>
                  <a:pt x="420737" y="571500"/>
                </a:cubicBezTo>
                <a:close/>
              </a:path>
            </a:pathLst>
          </a:custGeom>
          <a:solidFill>
            <a:srgbClr val="E85D3F"/>
          </a:solidFill>
        </p:spPr>
      </p:sp>
      <p:sp>
        <p:nvSpPr>
          <p:cNvPr id="13" name="Text 11"/>
          <p:cNvSpPr/>
          <p:nvPr/>
        </p:nvSpPr>
        <p:spPr>
          <a:xfrm>
            <a:off x="8382000" y="3365500"/>
            <a:ext cx="711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kern="0" spc="200" dirty="0">
                <a:solidFill>
                  <a:srgbClr val="E85D3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PHISHING EMAIL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10287000" y="4000500"/>
            <a:ext cx="3302000" cy="25400"/>
          </a:xfrm>
          <a:prstGeom prst="rect">
            <a:avLst/>
          </a:prstGeom>
          <a:solidFill>
            <a:srgbClr val="E85D3F">
              <a:alpha val="50196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8636000" y="4254500"/>
            <a:ext cx="6604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Score </a:t>
            </a:r>
            <a:r>
              <a:rPr lang="en-US" sz="2200" dirty="0">
                <a:solidFill>
                  <a:srgbClr val="E85D3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≥ 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36000" y="4889500"/>
            <a:ext cx="6604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E85D3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High Risk — Phishing detected!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7620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100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Sample Input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903345" y="955040"/>
            <a:ext cx="8964295" cy="5080000"/>
          </a:xfrm>
          <a:prstGeom prst="rect">
            <a:avLst/>
          </a:prstGeom>
          <a:solidFill>
            <a:srgbClr val="1E2230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25110" y="1587500"/>
            <a:ext cx="7542530" cy="762000"/>
          </a:xfrm>
          <a:prstGeom prst="rect">
            <a:avLst/>
          </a:prstGeom>
          <a:solidFill>
            <a:srgbClr val="0D1017"/>
          </a:solidFill>
        </p:spPr>
      </p:sp>
      <p:sp>
        <p:nvSpPr>
          <p:cNvPr id="7" name="Shape 5"/>
          <p:cNvSpPr/>
          <p:nvPr/>
        </p:nvSpPr>
        <p:spPr>
          <a:xfrm flipH="1">
            <a:off x="5584190" y="1790700"/>
            <a:ext cx="46228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8100" y="50800"/>
                </a:moveTo>
                <a:cubicBezTo>
                  <a:pt x="17066" y="50800"/>
                  <a:pt x="0" y="67866"/>
                  <a:pt x="0" y="88900"/>
                </a:cubicBezTo>
                <a:cubicBezTo>
                  <a:pt x="0" y="100886"/>
                  <a:pt x="5636" y="112157"/>
                  <a:pt x="15240" y="119380"/>
                </a:cubicBezTo>
                <a:lnTo>
                  <a:pt x="180340" y="243205"/>
                </a:lnTo>
                <a:cubicBezTo>
                  <a:pt x="193913" y="253365"/>
                  <a:pt x="212487" y="253365"/>
                  <a:pt x="226060" y="243205"/>
                </a:cubicBezTo>
                <a:lnTo>
                  <a:pt x="391160" y="119380"/>
                </a:lnTo>
                <a:cubicBezTo>
                  <a:pt x="400764" y="112157"/>
                  <a:pt x="406400" y="100886"/>
                  <a:pt x="406400" y="88900"/>
                </a:cubicBezTo>
                <a:cubicBezTo>
                  <a:pt x="406400" y="67866"/>
                  <a:pt x="389334" y="50800"/>
                  <a:pt x="368300" y="50800"/>
                </a:cubicBezTo>
                <a:lnTo>
                  <a:pt x="38100" y="50800"/>
                </a:lnTo>
                <a:close/>
                <a:moveTo>
                  <a:pt x="0" y="155575"/>
                </a:moveTo>
                <a:lnTo>
                  <a:pt x="0" y="304800"/>
                </a:lnTo>
                <a:cubicBezTo>
                  <a:pt x="0" y="332819"/>
                  <a:pt x="22781" y="355600"/>
                  <a:pt x="50800" y="355600"/>
                </a:cubicBezTo>
                <a:lnTo>
                  <a:pt x="355600" y="355600"/>
                </a:lnTo>
                <a:cubicBezTo>
                  <a:pt x="383619" y="355600"/>
                  <a:pt x="406400" y="332819"/>
                  <a:pt x="406400" y="304800"/>
                </a:cubicBezTo>
                <a:lnTo>
                  <a:pt x="406400" y="155575"/>
                </a:lnTo>
                <a:lnTo>
                  <a:pt x="248920" y="273685"/>
                </a:lnTo>
                <a:cubicBezTo>
                  <a:pt x="221853" y="294005"/>
                  <a:pt x="184547" y="294005"/>
                  <a:pt x="157480" y="273685"/>
                </a:cubicBezTo>
                <a:lnTo>
                  <a:pt x="0" y="155575"/>
                </a:lnTo>
                <a:close/>
              </a:path>
            </a:pathLst>
          </a:custGeom>
          <a:solidFill>
            <a:srgbClr val="E85D3F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11875" y="1715135"/>
            <a:ext cx="3915410" cy="48196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Email Details</a:t>
            </a:r>
          </a:p>
        </p:txBody>
      </p:sp>
      <p:sp>
        <p:nvSpPr>
          <p:cNvPr id="9" name="Text 7"/>
          <p:cNvSpPr/>
          <p:nvPr/>
        </p:nvSpPr>
        <p:spPr>
          <a:xfrm>
            <a:off x="3865880" y="2857500"/>
            <a:ext cx="134112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6B728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Sender</a:t>
            </a:r>
            <a:r>
              <a:rPr lang="en-US" sz="1600" b="1" dirty="0">
                <a:solidFill>
                  <a:srgbClr val="6B728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22595" y="2794000"/>
            <a:ext cx="7368540" cy="508000"/>
          </a:xfrm>
          <a:prstGeom prst="rect">
            <a:avLst/>
          </a:prstGeom>
          <a:solidFill>
            <a:srgbClr val="0D1017"/>
          </a:solidFill>
        </p:spPr>
      </p:sp>
      <p:sp>
        <p:nvSpPr>
          <p:cNvPr id="11" name="Text 9"/>
          <p:cNvSpPr/>
          <p:nvPr/>
        </p:nvSpPr>
        <p:spPr>
          <a:xfrm>
            <a:off x="5615305" y="2794000"/>
            <a:ext cx="7275195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E85D3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winner@fake.com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912235" y="3683000"/>
            <a:ext cx="1614805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6B728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Subject</a:t>
            </a:r>
            <a:r>
              <a:rPr lang="en-US" sz="1600" b="1" dirty="0">
                <a:solidFill>
                  <a:srgbClr val="6B728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: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40375" y="3619500"/>
            <a:ext cx="7404735" cy="508000"/>
          </a:xfrm>
          <a:prstGeom prst="rect">
            <a:avLst/>
          </a:prstGeom>
          <a:solidFill>
            <a:srgbClr val="0D1017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83555" y="3619500"/>
            <a:ext cx="728091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5A62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Free Reward Lottery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902710" y="4500880"/>
            <a:ext cx="1304290" cy="3886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6B728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Link: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527675" y="4445000"/>
            <a:ext cx="7385685" cy="508000"/>
          </a:xfrm>
          <a:prstGeom prst="rect">
            <a:avLst/>
          </a:prstGeom>
          <a:solidFill>
            <a:srgbClr val="0D1017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83555" y="4445000"/>
            <a:ext cx="6671945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E85D3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http://bit.ly/reward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464935" y="5334000"/>
            <a:ext cx="3176270" cy="508000"/>
          </a:xfrm>
          <a:prstGeom prst="rect">
            <a:avLst/>
          </a:prstGeom>
          <a:solidFill>
            <a:srgbClr val="3A1E1E"/>
          </a:solidFill>
        </p:spPr>
      </p:sp>
      <p:sp>
        <p:nvSpPr>
          <p:cNvPr id="19" name="Text 17"/>
          <p:cNvSpPr/>
          <p:nvPr/>
        </p:nvSpPr>
        <p:spPr>
          <a:xfrm>
            <a:off x="6747510" y="5334000"/>
            <a:ext cx="257429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E85D3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⚠ Multiple Risks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15" y="6700520"/>
            <a:ext cx="14937740" cy="2367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7620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100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Sample Output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302000" y="1362075"/>
            <a:ext cx="9652000" cy="1122045"/>
          </a:xfrm>
          <a:prstGeom prst="rect">
            <a:avLst/>
          </a:prstGeom>
          <a:solidFill>
            <a:srgbClr val="3A1E1E"/>
          </a:solidFill>
        </p:spPr>
      </p:sp>
      <p:sp>
        <p:nvSpPr>
          <p:cNvPr id="6" name="Shape 4"/>
          <p:cNvSpPr/>
          <p:nvPr/>
        </p:nvSpPr>
        <p:spPr>
          <a:xfrm>
            <a:off x="3771900" y="1612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22302" y="0"/>
                  <a:pt x="338376" y="9644"/>
                  <a:pt x="346710" y="25003"/>
                </a:cubicBezTo>
                <a:lnTo>
                  <a:pt x="603885" y="501253"/>
                </a:lnTo>
                <a:cubicBezTo>
                  <a:pt x="611862" y="516017"/>
                  <a:pt x="611505" y="533876"/>
                  <a:pt x="602933" y="548283"/>
                </a:cubicBezTo>
                <a:cubicBezTo>
                  <a:pt x="594360" y="562689"/>
                  <a:pt x="578763" y="571500"/>
                  <a:pt x="561975" y="571500"/>
                </a:cubicBezTo>
                <a:lnTo>
                  <a:pt x="47625" y="571500"/>
                </a:lnTo>
                <a:cubicBezTo>
                  <a:pt x="30837" y="571500"/>
                  <a:pt x="15359" y="562689"/>
                  <a:pt x="6668" y="548283"/>
                </a:cubicBezTo>
                <a:cubicBezTo>
                  <a:pt x="-2024" y="533876"/>
                  <a:pt x="-2262" y="516017"/>
                  <a:pt x="5715" y="501253"/>
                </a:cubicBezTo>
                <a:lnTo>
                  <a:pt x="262890" y="25003"/>
                </a:lnTo>
                <a:cubicBezTo>
                  <a:pt x="271224" y="9644"/>
                  <a:pt x="287298" y="0"/>
                  <a:pt x="304800" y="0"/>
                </a:cubicBezTo>
                <a:close/>
                <a:moveTo>
                  <a:pt x="304800" y="200025"/>
                </a:moveTo>
                <a:cubicBezTo>
                  <a:pt x="288965" y="200025"/>
                  <a:pt x="276225" y="212765"/>
                  <a:pt x="276225" y="228600"/>
                </a:cubicBezTo>
                <a:lnTo>
                  <a:pt x="276225" y="361950"/>
                </a:lnTo>
                <a:cubicBezTo>
                  <a:pt x="276225" y="377785"/>
                  <a:pt x="288965" y="390525"/>
                  <a:pt x="304800" y="390525"/>
                </a:cubicBezTo>
                <a:cubicBezTo>
                  <a:pt x="320635" y="390525"/>
                  <a:pt x="333375" y="377785"/>
                  <a:pt x="333375" y="361950"/>
                </a:cubicBezTo>
                <a:lnTo>
                  <a:pt x="333375" y="228600"/>
                </a:lnTo>
                <a:cubicBezTo>
                  <a:pt x="333375" y="212765"/>
                  <a:pt x="320635" y="200025"/>
                  <a:pt x="304800" y="200025"/>
                </a:cubicBezTo>
                <a:close/>
                <a:moveTo>
                  <a:pt x="336590" y="457200"/>
                </a:moveTo>
                <a:cubicBezTo>
                  <a:pt x="337313" y="445400"/>
                  <a:pt x="331428" y="434173"/>
                  <a:pt x="321313" y="428055"/>
                </a:cubicBezTo>
                <a:cubicBezTo>
                  <a:pt x="311197" y="421936"/>
                  <a:pt x="298522" y="421936"/>
                  <a:pt x="288406" y="428055"/>
                </a:cubicBezTo>
                <a:cubicBezTo>
                  <a:pt x="278291" y="434173"/>
                  <a:pt x="272406" y="445400"/>
                  <a:pt x="273129" y="457200"/>
                </a:cubicBezTo>
                <a:cubicBezTo>
                  <a:pt x="272406" y="469000"/>
                  <a:pt x="278291" y="480227"/>
                  <a:pt x="288406" y="486345"/>
                </a:cubicBezTo>
                <a:cubicBezTo>
                  <a:pt x="298522" y="492464"/>
                  <a:pt x="311197" y="492464"/>
                  <a:pt x="321313" y="486345"/>
                </a:cubicBezTo>
                <a:cubicBezTo>
                  <a:pt x="331428" y="480227"/>
                  <a:pt x="337313" y="469000"/>
                  <a:pt x="336590" y="457200"/>
                </a:cubicBezTo>
                <a:close/>
              </a:path>
            </a:pathLst>
          </a:custGeom>
          <a:solidFill>
            <a:srgbClr val="E85D3F"/>
          </a:solidFill>
        </p:spPr>
      </p:sp>
      <p:sp>
        <p:nvSpPr>
          <p:cNvPr id="7" name="Text 5"/>
          <p:cNvSpPr/>
          <p:nvPr/>
        </p:nvSpPr>
        <p:spPr>
          <a:xfrm>
            <a:off x="4635500" y="1315720"/>
            <a:ext cx="7874000" cy="122491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kern="0" spc="200" dirty="0">
                <a:solidFill>
                  <a:srgbClr val="E85D3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PHISHING EMAIL DETECTED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302000" y="2483485"/>
            <a:ext cx="9652000" cy="302387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9" name="Text 7"/>
          <p:cNvSpPr/>
          <p:nvPr/>
        </p:nvSpPr>
        <p:spPr>
          <a:xfrm>
            <a:off x="3683000" y="2837180"/>
            <a:ext cx="1905000" cy="4413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chemeClr val="bg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LEVEL:</a:t>
            </a:r>
          </a:p>
        </p:txBody>
      </p:sp>
      <p:sp>
        <p:nvSpPr>
          <p:cNvPr id="10" name="Shape 8"/>
          <p:cNvSpPr/>
          <p:nvPr/>
        </p:nvSpPr>
        <p:spPr>
          <a:xfrm>
            <a:off x="5715000" y="2839720"/>
            <a:ext cx="1524000" cy="485140"/>
          </a:xfrm>
          <a:prstGeom prst="rect">
            <a:avLst/>
          </a:prstGeom>
          <a:solidFill>
            <a:srgbClr val="E85D3F"/>
          </a:solidFill>
        </p:spPr>
      </p:sp>
      <p:sp>
        <p:nvSpPr>
          <p:cNvPr id="11" name="Text 9"/>
          <p:cNvSpPr/>
          <p:nvPr/>
        </p:nvSpPr>
        <p:spPr>
          <a:xfrm>
            <a:off x="5715000" y="2817495"/>
            <a:ext cx="1524000" cy="4845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83000" y="3582670"/>
            <a:ext cx="2540000" cy="4622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DETECTED ISSUES:</a:t>
            </a:r>
          </a:p>
        </p:txBody>
      </p:sp>
      <p:sp>
        <p:nvSpPr>
          <p:cNvPr id="13" name="Shape 11"/>
          <p:cNvSpPr/>
          <p:nvPr/>
        </p:nvSpPr>
        <p:spPr>
          <a:xfrm>
            <a:off x="3876040" y="4349115"/>
            <a:ext cx="350520" cy="260985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43736" y="43696"/>
                </a:moveTo>
                <a:cubicBezTo>
                  <a:pt x="33814" y="36255"/>
                  <a:pt x="17701" y="36255"/>
                  <a:pt x="7779" y="43696"/>
                </a:cubicBezTo>
                <a:cubicBezTo>
                  <a:pt x="-2143" y="51137"/>
                  <a:pt x="-2143" y="63222"/>
                  <a:pt x="7779" y="70664"/>
                </a:cubicBezTo>
                <a:lnTo>
                  <a:pt x="116840" y="152400"/>
                </a:lnTo>
                <a:lnTo>
                  <a:pt x="7858" y="234196"/>
                </a:lnTo>
                <a:cubicBezTo>
                  <a:pt x="-2064" y="241637"/>
                  <a:pt x="-2064" y="253722"/>
                  <a:pt x="7858" y="261164"/>
                </a:cubicBezTo>
                <a:cubicBezTo>
                  <a:pt x="17780" y="268605"/>
                  <a:pt x="33893" y="268605"/>
                  <a:pt x="43815" y="261164"/>
                </a:cubicBezTo>
                <a:lnTo>
                  <a:pt x="152797" y="179368"/>
                </a:lnTo>
                <a:lnTo>
                  <a:pt x="261858" y="261104"/>
                </a:lnTo>
                <a:cubicBezTo>
                  <a:pt x="271780" y="268545"/>
                  <a:pt x="287893" y="268545"/>
                  <a:pt x="297815" y="261104"/>
                </a:cubicBezTo>
                <a:cubicBezTo>
                  <a:pt x="307737" y="253663"/>
                  <a:pt x="307737" y="241578"/>
                  <a:pt x="297815" y="234136"/>
                </a:cubicBezTo>
                <a:lnTo>
                  <a:pt x="188754" y="152400"/>
                </a:lnTo>
                <a:lnTo>
                  <a:pt x="297736" y="70604"/>
                </a:lnTo>
                <a:cubicBezTo>
                  <a:pt x="307658" y="63163"/>
                  <a:pt x="307658" y="51078"/>
                  <a:pt x="297736" y="43636"/>
                </a:cubicBezTo>
                <a:cubicBezTo>
                  <a:pt x="287814" y="36195"/>
                  <a:pt x="271701" y="36195"/>
                  <a:pt x="261779" y="43636"/>
                </a:cubicBezTo>
                <a:lnTo>
                  <a:pt x="152797" y="125432"/>
                </a:lnTo>
                <a:lnTo>
                  <a:pt x="43736" y="43696"/>
                </a:lnTo>
                <a:close/>
              </a:path>
            </a:pathLst>
          </a:custGeom>
          <a:solidFill>
            <a:srgbClr val="E85D3F"/>
          </a:solidFill>
        </p:spPr>
      </p:sp>
      <p:sp>
        <p:nvSpPr>
          <p:cNvPr id="14" name="Text 12"/>
          <p:cNvSpPr/>
          <p:nvPr/>
        </p:nvSpPr>
        <p:spPr>
          <a:xfrm>
            <a:off x="4381500" y="4215130"/>
            <a:ext cx="5080000" cy="3352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Suspicious Sender </a:t>
            </a:r>
            <a:r>
              <a:rPr lang="en-US" sz="2000" dirty="0">
                <a:solidFill>
                  <a:srgbClr val="F5A62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(+2)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921760" y="47275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43736" y="43696"/>
                </a:moveTo>
                <a:cubicBezTo>
                  <a:pt x="33814" y="36255"/>
                  <a:pt x="17701" y="36255"/>
                  <a:pt x="7779" y="43696"/>
                </a:cubicBezTo>
                <a:cubicBezTo>
                  <a:pt x="-2143" y="51137"/>
                  <a:pt x="-2143" y="63222"/>
                  <a:pt x="7779" y="70664"/>
                </a:cubicBezTo>
                <a:lnTo>
                  <a:pt x="116840" y="152400"/>
                </a:lnTo>
                <a:lnTo>
                  <a:pt x="7858" y="234196"/>
                </a:lnTo>
                <a:cubicBezTo>
                  <a:pt x="-2064" y="241637"/>
                  <a:pt x="-2064" y="253722"/>
                  <a:pt x="7858" y="261164"/>
                </a:cubicBezTo>
                <a:cubicBezTo>
                  <a:pt x="17780" y="268605"/>
                  <a:pt x="33893" y="268605"/>
                  <a:pt x="43815" y="261164"/>
                </a:cubicBezTo>
                <a:lnTo>
                  <a:pt x="152797" y="179368"/>
                </a:lnTo>
                <a:lnTo>
                  <a:pt x="261858" y="261104"/>
                </a:lnTo>
                <a:cubicBezTo>
                  <a:pt x="271780" y="268545"/>
                  <a:pt x="287893" y="268545"/>
                  <a:pt x="297815" y="261104"/>
                </a:cubicBezTo>
                <a:cubicBezTo>
                  <a:pt x="307737" y="253663"/>
                  <a:pt x="307737" y="241578"/>
                  <a:pt x="297815" y="234136"/>
                </a:cubicBezTo>
                <a:lnTo>
                  <a:pt x="188754" y="152400"/>
                </a:lnTo>
                <a:lnTo>
                  <a:pt x="297736" y="70604"/>
                </a:lnTo>
                <a:cubicBezTo>
                  <a:pt x="307658" y="63163"/>
                  <a:pt x="307658" y="51078"/>
                  <a:pt x="297736" y="43636"/>
                </a:cubicBezTo>
                <a:cubicBezTo>
                  <a:pt x="287814" y="36195"/>
                  <a:pt x="271701" y="36195"/>
                  <a:pt x="261779" y="43636"/>
                </a:cubicBezTo>
                <a:lnTo>
                  <a:pt x="152797" y="125432"/>
                </a:lnTo>
                <a:lnTo>
                  <a:pt x="43736" y="43696"/>
                </a:lnTo>
                <a:close/>
              </a:path>
            </a:pathLst>
          </a:custGeom>
          <a:solidFill>
            <a:srgbClr val="E85D3F"/>
          </a:solidFill>
        </p:spPr>
      </p:sp>
      <p:sp>
        <p:nvSpPr>
          <p:cNvPr id="16" name="Text 14"/>
          <p:cNvSpPr/>
          <p:nvPr/>
        </p:nvSpPr>
        <p:spPr>
          <a:xfrm>
            <a:off x="4381500" y="4652645"/>
            <a:ext cx="5080000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Phishing Keywords </a:t>
            </a:r>
            <a:r>
              <a:rPr lang="en-US" sz="2000" dirty="0">
                <a:solidFill>
                  <a:srgbClr val="F5A62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(+2)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921760" y="5143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43736" y="43696"/>
                </a:moveTo>
                <a:cubicBezTo>
                  <a:pt x="33814" y="36255"/>
                  <a:pt x="17701" y="36255"/>
                  <a:pt x="7779" y="43696"/>
                </a:cubicBezTo>
                <a:cubicBezTo>
                  <a:pt x="-2143" y="51137"/>
                  <a:pt x="-2143" y="63222"/>
                  <a:pt x="7779" y="70664"/>
                </a:cubicBezTo>
                <a:lnTo>
                  <a:pt x="116840" y="152400"/>
                </a:lnTo>
                <a:lnTo>
                  <a:pt x="7858" y="234196"/>
                </a:lnTo>
                <a:cubicBezTo>
                  <a:pt x="-2064" y="241637"/>
                  <a:pt x="-2064" y="253722"/>
                  <a:pt x="7858" y="261164"/>
                </a:cubicBezTo>
                <a:cubicBezTo>
                  <a:pt x="17780" y="268605"/>
                  <a:pt x="33893" y="268605"/>
                  <a:pt x="43815" y="261164"/>
                </a:cubicBezTo>
                <a:lnTo>
                  <a:pt x="152797" y="179368"/>
                </a:lnTo>
                <a:lnTo>
                  <a:pt x="261858" y="261104"/>
                </a:lnTo>
                <a:cubicBezTo>
                  <a:pt x="271780" y="268545"/>
                  <a:pt x="287893" y="268545"/>
                  <a:pt x="297815" y="261104"/>
                </a:cubicBezTo>
                <a:cubicBezTo>
                  <a:pt x="307737" y="253663"/>
                  <a:pt x="307737" y="241578"/>
                  <a:pt x="297815" y="234136"/>
                </a:cubicBezTo>
                <a:lnTo>
                  <a:pt x="188754" y="152400"/>
                </a:lnTo>
                <a:lnTo>
                  <a:pt x="297736" y="70604"/>
                </a:lnTo>
                <a:cubicBezTo>
                  <a:pt x="307658" y="63163"/>
                  <a:pt x="307658" y="51078"/>
                  <a:pt x="297736" y="43636"/>
                </a:cubicBezTo>
                <a:cubicBezTo>
                  <a:pt x="287814" y="36195"/>
                  <a:pt x="271701" y="36195"/>
                  <a:pt x="261779" y="43636"/>
                </a:cubicBezTo>
                <a:lnTo>
                  <a:pt x="152797" y="125432"/>
                </a:lnTo>
                <a:lnTo>
                  <a:pt x="43736" y="43696"/>
                </a:lnTo>
                <a:close/>
              </a:path>
            </a:pathLst>
          </a:custGeom>
          <a:solidFill>
            <a:srgbClr val="E85D3F"/>
          </a:solidFill>
        </p:spPr>
      </p:sp>
      <p:sp>
        <p:nvSpPr>
          <p:cNvPr id="18" name="Text 16"/>
          <p:cNvSpPr/>
          <p:nvPr/>
        </p:nvSpPr>
        <p:spPr>
          <a:xfrm>
            <a:off x="4419600" y="5006340"/>
            <a:ext cx="5080000" cy="531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Insecure Link </a:t>
            </a:r>
            <a:r>
              <a:rPr lang="en-US" sz="2000" dirty="0">
                <a:solidFill>
                  <a:srgbClr val="F5A62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(+3)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683000" y="6350000"/>
            <a:ext cx="1905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TOTAL SCORE:</a:t>
            </a:r>
          </a:p>
        </p:txBody>
      </p:sp>
      <p:sp>
        <p:nvSpPr>
          <p:cNvPr id="20" name="Text 18"/>
          <p:cNvSpPr/>
          <p:nvPr/>
        </p:nvSpPr>
        <p:spPr>
          <a:xfrm>
            <a:off x="5715000" y="6286500"/>
            <a:ext cx="127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F5A62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7</a:t>
            </a:r>
            <a:endParaRPr lang="en-US" sz="28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205" y="5768975"/>
            <a:ext cx="12884150" cy="33743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40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kern="0" spc="100" dirty="0">
                <a:solidFill>
                  <a:srgbClr val="E85D3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</a:t>
            </a:r>
            <a:r>
              <a:rPr lang="en-US" sz="1400" kern="0" spc="100" dirty="0">
                <a:solidFill>
                  <a:srgbClr val="E85D3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100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Benefits of PhishShield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4572000" cy="1397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6" name="Shape 4"/>
          <p:cNvSpPr/>
          <p:nvPr/>
        </p:nvSpPr>
        <p:spPr>
          <a:xfrm>
            <a:off x="10795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30629" y="35719"/>
                </a:moveTo>
                <a:cubicBezTo>
                  <a:pt x="130629" y="15984"/>
                  <a:pt x="148896" y="0"/>
                  <a:pt x="171450" y="0"/>
                </a:cubicBezTo>
                <a:cubicBezTo>
                  <a:pt x="194004" y="0"/>
                  <a:pt x="212271" y="15984"/>
                  <a:pt x="212271" y="35719"/>
                </a:cubicBezTo>
                <a:lnTo>
                  <a:pt x="212271" y="168057"/>
                </a:lnTo>
                <a:cubicBezTo>
                  <a:pt x="220946" y="161270"/>
                  <a:pt x="232376" y="157163"/>
                  <a:pt x="244929" y="157163"/>
                </a:cubicBezTo>
                <a:cubicBezTo>
                  <a:pt x="265952" y="157163"/>
                  <a:pt x="283913" y="168771"/>
                  <a:pt x="290853" y="185023"/>
                </a:cubicBezTo>
                <a:cubicBezTo>
                  <a:pt x="299833" y="176719"/>
                  <a:pt x="312488" y="171450"/>
                  <a:pt x="326571" y="171450"/>
                </a:cubicBezTo>
                <a:cubicBezTo>
                  <a:pt x="352391" y="171450"/>
                  <a:pt x="373516" y="188863"/>
                  <a:pt x="375455" y="211009"/>
                </a:cubicBezTo>
                <a:cubicBezTo>
                  <a:pt x="384130" y="204133"/>
                  <a:pt x="395662" y="200025"/>
                  <a:pt x="408214" y="200025"/>
                </a:cubicBezTo>
                <a:cubicBezTo>
                  <a:pt x="435258" y="200025"/>
                  <a:pt x="457200" y="219224"/>
                  <a:pt x="457200" y="242888"/>
                </a:cubicBezTo>
                <a:lnTo>
                  <a:pt x="457200" y="342900"/>
                </a:lnTo>
                <a:cubicBezTo>
                  <a:pt x="457200" y="406033"/>
                  <a:pt x="398723" y="457200"/>
                  <a:pt x="326571" y="457200"/>
                </a:cubicBezTo>
                <a:lnTo>
                  <a:pt x="239520" y="457200"/>
                </a:lnTo>
                <a:cubicBezTo>
                  <a:pt x="234417" y="457200"/>
                  <a:pt x="229416" y="456932"/>
                  <a:pt x="224518" y="456307"/>
                </a:cubicBezTo>
                <a:cubicBezTo>
                  <a:pt x="168082" y="451306"/>
                  <a:pt x="116137" y="425946"/>
                  <a:pt x="81643" y="385763"/>
                </a:cubicBezTo>
                <a:lnTo>
                  <a:pt x="8164" y="300038"/>
                </a:lnTo>
                <a:cubicBezTo>
                  <a:pt x="-5409" y="284232"/>
                  <a:pt x="-1735" y="261908"/>
                  <a:pt x="16329" y="250031"/>
                </a:cubicBezTo>
                <a:cubicBezTo>
                  <a:pt x="34392" y="238155"/>
                  <a:pt x="59905" y="241369"/>
                  <a:pt x="73479" y="257175"/>
                </a:cubicBezTo>
                <a:lnTo>
                  <a:pt x="130629" y="323880"/>
                </a:lnTo>
                <a:lnTo>
                  <a:pt x="130629" y="35719"/>
                </a:lnTo>
                <a:close/>
                <a:moveTo>
                  <a:pt x="244929" y="271463"/>
                </a:moveTo>
                <a:cubicBezTo>
                  <a:pt x="244929" y="263604"/>
                  <a:pt x="237581" y="257175"/>
                  <a:pt x="228600" y="257175"/>
                </a:cubicBezTo>
                <a:cubicBezTo>
                  <a:pt x="219619" y="257175"/>
                  <a:pt x="212271" y="263604"/>
                  <a:pt x="212271" y="271463"/>
                </a:cubicBezTo>
                <a:lnTo>
                  <a:pt x="212271" y="357188"/>
                </a:lnTo>
                <a:cubicBezTo>
                  <a:pt x="212271" y="365046"/>
                  <a:pt x="219619" y="371475"/>
                  <a:pt x="228600" y="371475"/>
                </a:cubicBezTo>
                <a:cubicBezTo>
                  <a:pt x="237581" y="371475"/>
                  <a:pt x="244929" y="365046"/>
                  <a:pt x="244929" y="357188"/>
                </a:cubicBezTo>
                <a:lnTo>
                  <a:pt x="244929" y="271463"/>
                </a:lnTo>
                <a:close/>
                <a:moveTo>
                  <a:pt x="293914" y="257175"/>
                </a:moveTo>
                <a:cubicBezTo>
                  <a:pt x="284934" y="257175"/>
                  <a:pt x="277586" y="263604"/>
                  <a:pt x="277586" y="271463"/>
                </a:cubicBezTo>
                <a:lnTo>
                  <a:pt x="277586" y="357188"/>
                </a:lnTo>
                <a:cubicBezTo>
                  <a:pt x="277586" y="365046"/>
                  <a:pt x="284934" y="371475"/>
                  <a:pt x="293914" y="371475"/>
                </a:cubicBezTo>
                <a:cubicBezTo>
                  <a:pt x="302895" y="371475"/>
                  <a:pt x="310243" y="365046"/>
                  <a:pt x="310243" y="357188"/>
                </a:cubicBezTo>
                <a:lnTo>
                  <a:pt x="310243" y="271463"/>
                </a:lnTo>
                <a:cubicBezTo>
                  <a:pt x="310243" y="263604"/>
                  <a:pt x="302895" y="257175"/>
                  <a:pt x="293914" y="257175"/>
                </a:cubicBezTo>
                <a:close/>
                <a:moveTo>
                  <a:pt x="375557" y="271463"/>
                </a:moveTo>
                <a:cubicBezTo>
                  <a:pt x="375557" y="263604"/>
                  <a:pt x="368209" y="257175"/>
                  <a:pt x="359229" y="257175"/>
                </a:cubicBezTo>
                <a:cubicBezTo>
                  <a:pt x="350248" y="257175"/>
                  <a:pt x="342900" y="263604"/>
                  <a:pt x="342900" y="271463"/>
                </a:cubicBezTo>
                <a:lnTo>
                  <a:pt x="342900" y="357188"/>
                </a:lnTo>
                <a:cubicBezTo>
                  <a:pt x="342900" y="365046"/>
                  <a:pt x="350248" y="371475"/>
                  <a:pt x="359229" y="371475"/>
                </a:cubicBezTo>
                <a:cubicBezTo>
                  <a:pt x="368209" y="371475"/>
                  <a:pt x="375557" y="365046"/>
                  <a:pt x="375557" y="357188"/>
                </a:cubicBezTo>
                <a:lnTo>
                  <a:pt x="375557" y="271463"/>
                </a:lnTo>
                <a:close/>
              </a:path>
            </a:pathLst>
          </a:custGeom>
          <a:solidFill>
            <a:srgbClr val="F5A623"/>
          </a:solidFill>
        </p:spPr>
      </p:sp>
      <p:sp>
        <p:nvSpPr>
          <p:cNvPr id="7" name="Text 5"/>
          <p:cNvSpPr/>
          <p:nvPr/>
        </p:nvSpPr>
        <p:spPr>
          <a:xfrm>
            <a:off x="1714500" y="1968500"/>
            <a:ext cx="3365500" cy="1206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4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Easy to use</a:t>
            </a:r>
            <a:endParaRPr lang="en-US" sz="2400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Simple interface for quick analysis</a:t>
            </a:r>
          </a:p>
        </p:txBody>
      </p:sp>
      <p:sp>
        <p:nvSpPr>
          <p:cNvPr id="8" name="Shape 6"/>
          <p:cNvSpPr/>
          <p:nvPr/>
        </p:nvSpPr>
        <p:spPr>
          <a:xfrm>
            <a:off x="5842000" y="1778000"/>
            <a:ext cx="4572000" cy="1397000"/>
          </a:xfrm>
          <a:prstGeom prst="rect">
            <a:avLst/>
          </a:prstGeom>
          <a:solidFill>
            <a:srgbClr val="1E2230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1595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5758" y="-8840"/>
                </a:moveTo>
                <a:cubicBezTo>
                  <a:pt x="357902" y="-1161"/>
                  <a:pt x="362392" y="12769"/>
                  <a:pt x="356881" y="24914"/>
                </a:cubicBezTo>
                <a:lnTo>
                  <a:pt x="276871" y="200025"/>
                </a:lnTo>
                <a:lnTo>
                  <a:pt x="424543" y="200025"/>
                </a:lnTo>
                <a:cubicBezTo>
                  <a:pt x="438320" y="200025"/>
                  <a:pt x="450567" y="207526"/>
                  <a:pt x="455261" y="218867"/>
                </a:cubicBezTo>
                <a:cubicBezTo>
                  <a:pt x="459955" y="230207"/>
                  <a:pt x="455975" y="242888"/>
                  <a:pt x="445464" y="250567"/>
                </a:cubicBezTo>
                <a:lnTo>
                  <a:pt x="151550" y="464880"/>
                </a:lnTo>
                <a:cubicBezTo>
                  <a:pt x="140018" y="473273"/>
                  <a:pt x="123587" y="473720"/>
                  <a:pt x="111443" y="466040"/>
                </a:cubicBezTo>
                <a:cubicBezTo>
                  <a:pt x="99298" y="458361"/>
                  <a:pt x="94808" y="444431"/>
                  <a:pt x="100319" y="432286"/>
                </a:cubicBezTo>
                <a:lnTo>
                  <a:pt x="180329" y="257175"/>
                </a:lnTo>
                <a:lnTo>
                  <a:pt x="32657" y="257175"/>
                </a:lnTo>
                <a:cubicBezTo>
                  <a:pt x="18880" y="257175"/>
                  <a:pt x="6633" y="249674"/>
                  <a:pt x="1939" y="238333"/>
                </a:cubicBezTo>
                <a:cubicBezTo>
                  <a:pt x="-2755" y="226993"/>
                  <a:pt x="1225" y="214312"/>
                  <a:pt x="11736" y="206633"/>
                </a:cubicBezTo>
                <a:lnTo>
                  <a:pt x="305650" y="-7680"/>
                </a:lnTo>
                <a:cubicBezTo>
                  <a:pt x="317183" y="-16073"/>
                  <a:pt x="333613" y="-16520"/>
                  <a:pt x="345758" y="-8840"/>
                </a:cubicBezTo>
                <a:close/>
              </a:path>
            </a:pathLst>
          </a:custGeom>
          <a:solidFill>
            <a:srgbClr val="F5A623"/>
          </a:solidFill>
        </p:spPr>
      </p:sp>
      <p:sp>
        <p:nvSpPr>
          <p:cNvPr id="10" name="Text 8"/>
          <p:cNvSpPr/>
          <p:nvPr/>
        </p:nvSpPr>
        <p:spPr>
          <a:xfrm>
            <a:off x="6794500" y="1968500"/>
            <a:ext cx="33655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4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Fast analysis</a:t>
            </a:r>
            <a:endParaRPr lang="en-US" sz="2400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Real-time email scanning</a:t>
            </a:r>
          </a:p>
        </p:txBody>
      </p:sp>
      <p:sp>
        <p:nvSpPr>
          <p:cNvPr id="11" name="Shape 9"/>
          <p:cNvSpPr/>
          <p:nvPr/>
        </p:nvSpPr>
        <p:spPr>
          <a:xfrm>
            <a:off x="10922000" y="1778000"/>
            <a:ext cx="4572000" cy="1397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2" name="Shape 10"/>
          <p:cNvSpPr/>
          <p:nvPr/>
        </p:nvSpPr>
        <p:spPr>
          <a:xfrm>
            <a:off x="112395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14325" y="0"/>
                </a:moveTo>
                <a:cubicBezTo>
                  <a:pt x="350937" y="0"/>
                  <a:pt x="386030" y="14555"/>
                  <a:pt x="411837" y="40362"/>
                </a:cubicBezTo>
                <a:lnTo>
                  <a:pt x="416749" y="45274"/>
                </a:lnTo>
                <a:cubicBezTo>
                  <a:pt x="442645" y="71170"/>
                  <a:pt x="457200" y="106263"/>
                  <a:pt x="457200" y="142786"/>
                </a:cubicBezTo>
                <a:cubicBezTo>
                  <a:pt x="457200" y="164306"/>
                  <a:pt x="452110" y="185291"/>
                  <a:pt x="442734" y="204222"/>
                </a:cubicBezTo>
                <a:cubicBezTo>
                  <a:pt x="441037" y="207526"/>
                  <a:pt x="438001" y="210026"/>
                  <a:pt x="434429" y="211098"/>
                </a:cubicBezTo>
                <a:lnTo>
                  <a:pt x="334417" y="241102"/>
                </a:lnTo>
                <a:cubicBezTo>
                  <a:pt x="330934" y="242173"/>
                  <a:pt x="328613" y="245299"/>
                  <a:pt x="328613" y="248960"/>
                </a:cubicBezTo>
                <a:cubicBezTo>
                  <a:pt x="328613" y="253514"/>
                  <a:pt x="332274" y="257175"/>
                  <a:pt x="336828" y="257175"/>
                </a:cubicBezTo>
                <a:lnTo>
                  <a:pt x="365581" y="257175"/>
                </a:lnTo>
                <a:cubicBezTo>
                  <a:pt x="378351" y="257175"/>
                  <a:pt x="384691" y="272534"/>
                  <a:pt x="375672" y="281553"/>
                </a:cubicBezTo>
                <a:lnTo>
                  <a:pt x="355669" y="301556"/>
                </a:lnTo>
                <a:cubicBezTo>
                  <a:pt x="353973" y="303252"/>
                  <a:pt x="351919" y="304413"/>
                  <a:pt x="349687" y="305127"/>
                </a:cubicBezTo>
                <a:lnTo>
                  <a:pt x="277356" y="326827"/>
                </a:lnTo>
                <a:cubicBezTo>
                  <a:pt x="273874" y="327898"/>
                  <a:pt x="271552" y="331024"/>
                  <a:pt x="271552" y="334685"/>
                </a:cubicBezTo>
                <a:cubicBezTo>
                  <a:pt x="271552" y="339239"/>
                  <a:pt x="275213" y="342900"/>
                  <a:pt x="279767" y="342900"/>
                </a:cubicBezTo>
                <a:cubicBezTo>
                  <a:pt x="291554" y="342900"/>
                  <a:pt x="296644" y="356920"/>
                  <a:pt x="286732" y="363349"/>
                </a:cubicBezTo>
                <a:cubicBezTo>
                  <a:pt x="250031" y="387102"/>
                  <a:pt x="206990" y="400050"/>
                  <a:pt x="162610" y="400050"/>
                </a:cubicBezTo>
                <a:lnTo>
                  <a:pt x="85814" y="400050"/>
                </a:lnTo>
                <a:lnTo>
                  <a:pt x="42952" y="442913"/>
                </a:lnTo>
                <a:cubicBezTo>
                  <a:pt x="35094" y="450771"/>
                  <a:pt x="22235" y="450771"/>
                  <a:pt x="14377" y="442913"/>
                </a:cubicBezTo>
                <a:cubicBezTo>
                  <a:pt x="6519" y="435054"/>
                  <a:pt x="6519" y="422196"/>
                  <a:pt x="14377" y="414338"/>
                </a:cubicBezTo>
                <a:lnTo>
                  <a:pt x="228600" y="200025"/>
                </a:lnTo>
                <a:cubicBezTo>
                  <a:pt x="236458" y="192167"/>
                  <a:pt x="236458" y="179308"/>
                  <a:pt x="228600" y="171450"/>
                </a:cubicBezTo>
                <a:cubicBezTo>
                  <a:pt x="220742" y="163592"/>
                  <a:pt x="207883" y="163592"/>
                  <a:pt x="200025" y="171450"/>
                </a:cubicBezTo>
                <a:lnTo>
                  <a:pt x="70991" y="300484"/>
                </a:lnTo>
                <a:cubicBezTo>
                  <a:pt x="65901" y="305574"/>
                  <a:pt x="57150" y="302002"/>
                  <a:pt x="57150" y="294769"/>
                </a:cubicBezTo>
                <a:cubicBezTo>
                  <a:pt x="57150" y="234136"/>
                  <a:pt x="81260" y="176004"/>
                  <a:pt x="124123" y="133142"/>
                </a:cubicBezTo>
                <a:lnTo>
                  <a:pt x="216813" y="40362"/>
                </a:lnTo>
                <a:cubicBezTo>
                  <a:pt x="242620" y="14555"/>
                  <a:pt x="277713" y="0"/>
                  <a:pt x="314325" y="0"/>
                </a:cubicBezTo>
                <a:close/>
              </a:path>
            </a:pathLst>
          </a:custGeom>
          <a:solidFill>
            <a:srgbClr val="F5A623"/>
          </a:solidFill>
        </p:spPr>
      </p:sp>
      <p:sp>
        <p:nvSpPr>
          <p:cNvPr id="13" name="Text 11"/>
          <p:cNvSpPr/>
          <p:nvPr/>
        </p:nvSpPr>
        <p:spPr>
          <a:xfrm>
            <a:off x="11874500" y="1968500"/>
            <a:ext cx="33655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4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Lightweight system</a:t>
            </a:r>
            <a:endParaRPr lang="en-US" sz="2400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Minimal resource usage</a:t>
            </a:r>
          </a:p>
        </p:txBody>
      </p:sp>
      <p:sp>
        <p:nvSpPr>
          <p:cNvPr id="14" name="Shape 12"/>
          <p:cNvSpPr/>
          <p:nvPr/>
        </p:nvSpPr>
        <p:spPr>
          <a:xfrm>
            <a:off x="762000" y="3556000"/>
            <a:ext cx="4572000" cy="1397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5" name="Shape 13"/>
          <p:cNvSpPr/>
          <p:nvPr/>
        </p:nvSpPr>
        <p:spPr>
          <a:xfrm>
            <a:off x="1079500" y="393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100" y="174843"/>
                </a:moveTo>
                <a:lnTo>
                  <a:pt x="204152" y="251728"/>
                </a:lnTo>
                <a:cubicBezTo>
                  <a:pt x="211931" y="255300"/>
                  <a:pt x="220186" y="257175"/>
                  <a:pt x="228600" y="257175"/>
                </a:cubicBezTo>
                <a:cubicBezTo>
                  <a:pt x="237014" y="257175"/>
                  <a:pt x="245269" y="255300"/>
                  <a:pt x="253048" y="251728"/>
                </a:cubicBezTo>
                <a:lnTo>
                  <a:pt x="445453" y="162610"/>
                </a:lnTo>
                <a:cubicBezTo>
                  <a:pt x="452596" y="159306"/>
                  <a:pt x="457200" y="151537"/>
                  <a:pt x="457200" y="142875"/>
                </a:cubicBezTo>
                <a:cubicBezTo>
                  <a:pt x="457200" y="134213"/>
                  <a:pt x="452596" y="126444"/>
                  <a:pt x="445453" y="123140"/>
                </a:cubicBezTo>
                <a:lnTo>
                  <a:pt x="253048" y="34022"/>
                </a:lnTo>
                <a:cubicBezTo>
                  <a:pt x="245269" y="30450"/>
                  <a:pt x="237014" y="28575"/>
                  <a:pt x="228600" y="28575"/>
                </a:cubicBezTo>
                <a:cubicBezTo>
                  <a:pt x="220186" y="28575"/>
                  <a:pt x="211931" y="30450"/>
                  <a:pt x="204152" y="34022"/>
                </a:cubicBezTo>
                <a:lnTo>
                  <a:pt x="11748" y="123140"/>
                </a:lnTo>
                <a:cubicBezTo>
                  <a:pt x="4604" y="126444"/>
                  <a:pt x="0" y="134213"/>
                  <a:pt x="0" y="142875"/>
                </a:cubicBezTo>
                <a:lnTo>
                  <a:pt x="0" y="407194"/>
                </a:lnTo>
                <a:cubicBezTo>
                  <a:pt x="0" y="419070"/>
                  <a:pt x="8493" y="428625"/>
                  <a:pt x="19050" y="428625"/>
                </a:cubicBezTo>
                <a:cubicBezTo>
                  <a:pt x="29607" y="428625"/>
                  <a:pt x="38100" y="419070"/>
                  <a:pt x="38100" y="407194"/>
                </a:cubicBezTo>
                <a:lnTo>
                  <a:pt x="38100" y="174843"/>
                </a:lnTo>
                <a:close/>
                <a:moveTo>
                  <a:pt x="76200" y="238869"/>
                </a:moveTo>
                <a:lnTo>
                  <a:pt x="76200" y="342900"/>
                </a:lnTo>
                <a:cubicBezTo>
                  <a:pt x="76200" y="390227"/>
                  <a:pt x="144463" y="428625"/>
                  <a:pt x="228600" y="428625"/>
                </a:cubicBezTo>
                <a:cubicBezTo>
                  <a:pt x="312738" y="428625"/>
                  <a:pt x="381000" y="390227"/>
                  <a:pt x="381000" y="342900"/>
                </a:cubicBezTo>
                <a:lnTo>
                  <a:pt x="381000" y="238780"/>
                </a:lnTo>
                <a:lnTo>
                  <a:pt x="267573" y="291376"/>
                </a:lnTo>
                <a:cubicBezTo>
                  <a:pt x="255191" y="297091"/>
                  <a:pt x="242014" y="300037"/>
                  <a:pt x="228600" y="300037"/>
                </a:cubicBezTo>
                <a:cubicBezTo>
                  <a:pt x="215186" y="300037"/>
                  <a:pt x="202009" y="297091"/>
                  <a:pt x="189627" y="291376"/>
                </a:cubicBezTo>
                <a:lnTo>
                  <a:pt x="76200" y="238780"/>
                </a:lnTo>
                <a:close/>
              </a:path>
            </a:pathLst>
          </a:custGeom>
          <a:solidFill>
            <a:srgbClr val="F5A623"/>
          </a:solidFill>
        </p:spPr>
      </p:sp>
      <p:sp>
        <p:nvSpPr>
          <p:cNvPr id="16" name="Text 14"/>
          <p:cNvSpPr/>
          <p:nvPr/>
        </p:nvSpPr>
        <p:spPr>
          <a:xfrm>
            <a:off x="1536065" y="3746500"/>
            <a:ext cx="378714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4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Improves cyber awareness</a:t>
            </a:r>
            <a:endParaRPr lang="en-US" sz="2400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Educates users about threats</a:t>
            </a:r>
          </a:p>
        </p:txBody>
      </p:sp>
      <p:sp>
        <p:nvSpPr>
          <p:cNvPr id="17" name="Shape 15"/>
          <p:cNvSpPr/>
          <p:nvPr/>
        </p:nvSpPr>
        <p:spPr>
          <a:xfrm>
            <a:off x="5842000" y="3556000"/>
            <a:ext cx="4572000" cy="1397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8" name="Shape 16"/>
          <p:cNvSpPr/>
          <p:nvPr/>
        </p:nvSpPr>
        <p:spPr>
          <a:xfrm>
            <a:off x="6159500" y="393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7800" y="221456"/>
                </a:moveTo>
                <a:cubicBezTo>
                  <a:pt x="230370" y="221456"/>
                  <a:pt x="273050" y="173441"/>
                  <a:pt x="273050" y="114300"/>
                </a:cubicBezTo>
                <a:cubicBezTo>
                  <a:pt x="273050" y="55159"/>
                  <a:pt x="230370" y="7144"/>
                  <a:pt x="177800" y="7144"/>
                </a:cubicBezTo>
                <a:cubicBezTo>
                  <a:pt x="125230" y="7144"/>
                  <a:pt x="82550" y="55159"/>
                  <a:pt x="82550" y="114300"/>
                </a:cubicBezTo>
                <a:cubicBezTo>
                  <a:pt x="82550" y="173441"/>
                  <a:pt x="125230" y="221456"/>
                  <a:pt x="177800" y="221456"/>
                </a:cubicBezTo>
                <a:close/>
                <a:moveTo>
                  <a:pt x="154226" y="271463"/>
                </a:moveTo>
                <a:cubicBezTo>
                  <a:pt x="76041" y="271463"/>
                  <a:pt x="12700" y="342721"/>
                  <a:pt x="12700" y="430679"/>
                </a:cubicBezTo>
                <a:cubicBezTo>
                  <a:pt x="12700" y="445324"/>
                  <a:pt x="23257" y="457200"/>
                  <a:pt x="36274" y="457200"/>
                </a:cubicBezTo>
                <a:lnTo>
                  <a:pt x="235902" y="457200"/>
                </a:lnTo>
                <a:cubicBezTo>
                  <a:pt x="207169" y="419160"/>
                  <a:pt x="190500" y="370136"/>
                  <a:pt x="190500" y="318254"/>
                </a:cubicBezTo>
                <a:lnTo>
                  <a:pt x="190500" y="290483"/>
                </a:lnTo>
                <a:cubicBezTo>
                  <a:pt x="190500" y="283964"/>
                  <a:pt x="191294" y="277535"/>
                  <a:pt x="192802" y="271462"/>
                </a:cubicBezTo>
                <a:lnTo>
                  <a:pt x="154226" y="271462"/>
                </a:lnTo>
                <a:close/>
                <a:moveTo>
                  <a:pt x="353457" y="436215"/>
                </a:moveTo>
                <a:lnTo>
                  <a:pt x="342900" y="441841"/>
                </a:lnTo>
                <a:lnTo>
                  <a:pt x="342900" y="273874"/>
                </a:lnTo>
                <a:lnTo>
                  <a:pt x="419100" y="302449"/>
                </a:lnTo>
                <a:lnTo>
                  <a:pt x="419100" y="319951"/>
                </a:lnTo>
                <a:cubicBezTo>
                  <a:pt x="419100" y="369778"/>
                  <a:pt x="393541" y="415052"/>
                  <a:pt x="353457" y="436305"/>
                </a:cubicBezTo>
                <a:close/>
                <a:moveTo>
                  <a:pt x="334883" y="231725"/>
                </a:moveTo>
                <a:lnTo>
                  <a:pt x="245983" y="265033"/>
                </a:lnTo>
                <a:cubicBezTo>
                  <a:pt x="235585" y="268962"/>
                  <a:pt x="228600" y="279856"/>
                  <a:pt x="228600" y="292179"/>
                </a:cubicBezTo>
                <a:lnTo>
                  <a:pt x="228600" y="319951"/>
                </a:lnTo>
                <a:cubicBezTo>
                  <a:pt x="228600" y="386388"/>
                  <a:pt x="262731" y="446842"/>
                  <a:pt x="316071" y="475059"/>
                </a:cubicBezTo>
                <a:lnTo>
                  <a:pt x="330756" y="482828"/>
                </a:lnTo>
                <a:cubicBezTo>
                  <a:pt x="334566" y="484793"/>
                  <a:pt x="338693" y="485864"/>
                  <a:pt x="342821" y="485864"/>
                </a:cubicBezTo>
                <a:cubicBezTo>
                  <a:pt x="346948" y="485864"/>
                  <a:pt x="351155" y="484793"/>
                  <a:pt x="354886" y="482828"/>
                </a:cubicBezTo>
                <a:lnTo>
                  <a:pt x="369570" y="475059"/>
                </a:lnTo>
                <a:cubicBezTo>
                  <a:pt x="423069" y="446752"/>
                  <a:pt x="457200" y="386298"/>
                  <a:pt x="457200" y="319861"/>
                </a:cubicBezTo>
                <a:lnTo>
                  <a:pt x="457200" y="292090"/>
                </a:lnTo>
                <a:cubicBezTo>
                  <a:pt x="457200" y="279767"/>
                  <a:pt x="450215" y="268873"/>
                  <a:pt x="439817" y="264944"/>
                </a:cubicBezTo>
                <a:lnTo>
                  <a:pt x="350917" y="231636"/>
                </a:lnTo>
                <a:cubicBezTo>
                  <a:pt x="345678" y="229672"/>
                  <a:pt x="340043" y="229672"/>
                  <a:pt x="334883" y="231636"/>
                </a:cubicBezTo>
                <a:close/>
              </a:path>
            </a:pathLst>
          </a:custGeom>
          <a:solidFill>
            <a:srgbClr val="F5A623"/>
          </a:solidFill>
        </p:spPr>
      </p:sp>
      <p:sp>
        <p:nvSpPr>
          <p:cNvPr id="19" name="Text 17"/>
          <p:cNvSpPr/>
          <p:nvPr/>
        </p:nvSpPr>
        <p:spPr>
          <a:xfrm>
            <a:off x="6794500" y="3746500"/>
            <a:ext cx="33655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4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Protects personal info</a:t>
            </a:r>
            <a:endParaRPr lang="en-US" sz="2400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Safeguards sensitive data</a:t>
            </a:r>
          </a:p>
        </p:txBody>
      </p:sp>
      <p:sp>
        <p:nvSpPr>
          <p:cNvPr id="20" name="Shape 18"/>
          <p:cNvSpPr/>
          <p:nvPr/>
        </p:nvSpPr>
        <p:spPr>
          <a:xfrm>
            <a:off x="10922000" y="3556000"/>
            <a:ext cx="4572000" cy="1397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21" name="Shape 19"/>
          <p:cNvSpPr/>
          <p:nvPr/>
        </p:nvSpPr>
        <p:spPr>
          <a:xfrm>
            <a:off x="11239500" y="393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F5A623"/>
          </a:solidFill>
        </p:spPr>
      </p:sp>
      <p:sp>
        <p:nvSpPr>
          <p:cNvPr id="22" name="Text 20"/>
          <p:cNvSpPr/>
          <p:nvPr/>
        </p:nvSpPr>
        <p:spPr>
          <a:xfrm>
            <a:off x="11874500" y="3746500"/>
            <a:ext cx="33655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4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Detects common attacks</a:t>
            </a:r>
            <a:endParaRPr lang="en-US" sz="2400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Catches widespread phishing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7620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100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Current Limitations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7112000" cy="1270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6" name="Shape 4"/>
          <p:cNvSpPr/>
          <p:nvPr/>
        </p:nvSpPr>
        <p:spPr>
          <a:xfrm>
            <a:off x="1079500" y="2260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6204" y="28813"/>
                </a:moveTo>
                <a:cubicBezTo>
                  <a:pt x="114856" y="34846"/>
                  <a:pt x="116919" y="46752"/>
                  <a:pt x="110887" y="55324"/>
                </a:cubicBezTo>
                <a:lnTo>
                  <a:pt x="66437" y="118824"/>
                </a:lnTo>
                <a:cubicBezTo>
                  <a:pt x="63183" y="123428"/>
                  <a:pt x="58103" y="126365"/>
                  <a:pt x="52467" y="126841"/>
                </a:cubicBezTo>
                <a:cubicBezTo>
                  <a:pt x="46831" y="127317"/>
                  <a:pt x="41275" y="125413"/>
                  <a:pt x="37306" y="121444"/>
                </a:cubicBezTo>
                <a:lnTo>
                  <a:pt x="5556" y="89694"/>
                </a:lnTo>
                <a:cubicBezTo>
                  <a:pt x="-1826" y="82233"/>
                  <a:pt x="-1826" y="70168"/>
                  <a:pt x="5556" y="62706"/>
                </a:cubicBezTo>
                <a:cubicBezTo>
                  <a:pt x="12938" y="55245"/>
                  <a:pt x="25083" y="55324"/>
                  <a:pt x="32544" y="62706"/>
                </a:cubicBezTo>
                <a:lnTo>
                  <a:pt x="48260" y="78423"/>
                </a:lnTo>
                <a:lnTo>
                  <a:pt x="79693" y="33496"/>
                </a:lnTo>
                <a:cubicBezTo>
                  <a:pt x="85725" y="24844"/>
                  <a:pt x="97631" y="22781"/>
                  <a:pt x="106204" y="28813"/>
                </a:cubicBezTo>
                <a:close/>
                <a:moveTo>
                  <a:pt x="106204" y="155813"/>
                </a:moveTo>
                <a:cubicBezTo>
                  <a:pt x="114856" y="161846"/>
                  <a:pt x="116919" y="173752"/>
                  <a:pt x="110887" y="182324"/>
                </a:cubicBezTo>
                <a:lnTo>
                  <a:pt x="66437" y="245824"/>
                </a:lnTo>
                <a:cubicBezTo>
                  <a:pt x="63183" y="250428"/>
                  <a:pt x="58103" y="253365"/>
                  <a:pt x="52467" y="253841"/>
                </a:cubicBezTo>
                <a:cubicBezTo>
                  <a:pt x="46831" y="254318"/>
                  <a:pt x="41275" y="252413"/>
                  <a:pt x="37306" y="248444"/>
                </a:cubicBezTo>
                <a:lnTo>
                  <a:pt x="5556" y="216694"/>
                </a:lnTo>
                <a:cubicBezTo>
                  <a:pt x="-1905" y="209233"/>
                  <a:pt x="-1905" y="197168"/>
                  <a:pt x="5556" y="189786"/>
                </a:cubicBezTo>
                <a:cubicBezTo>
                  <a:pt x="13017" y="182404"/>
                  <a:pt x="25083" y="182324"/>
                  <a:pt x="32464" y="189786"/>
                </a:cubicBezTo>
                <a:lnTo>
                  <a:pt x="48181" y="205502"/>
                </a:lnTo>
                <a:lnTo>
                  <a:pt x="79613" y="160576"/>
                </a:lnTo>
                <a:cubicBezTo>
                  <a:pt x="85646" y="151924"/>
                  <a:pt x="97552" y="149860"/>
                  <a:pt x="106124" y="155892"/>
                </a:cubicBezTo>
                <a:close/>
                <a:moveTo>
                  <a:pt x="177800" y="76200"/>
                </a:moveTo>
                <a:cubicBezTo>
                  <a:pt x="177800" y="62151"/>
                  <a:pt x="189151" y="50800"/>
                  <a:pt x="203200" y="50800"/>
                </a:cubicBezTo>
                <a:lnTo>
                  <a:pt x="381000" y="50800"/>
                </a:lnTo>
                <a:cubicBezTo>
                  <a:pt x="395049" y="50800"/>
                  <a:pt x="406400" y="62151"/>
                  <a:pt x="406400" y="76200"/>
                </a:cubicBezTo>
                <a:cubicBezTo>
                  <a:pt x="406400" y="90249"/>
                  <a:pt x="395049" y="101600"/>
                  <a:pt x="381000" y="101600"/>
                </a:cubicBezTo>
                <a:lnTo>
                  <a:pt x="203200" y="101600"/>
                </a:lnTo>
                <a:cubicBezTo>
                  <a:pt x="189151" y="101600"/>
                  <a:pt x="177800" y="90249"/>
                  <a:pt x="177800" y="76200"/>
                </a:cubicBezTo>
                <a:close/>
                <a:moveTo>
                  <a:pt x="177800" y="203200"/>
                </a:moveTo>
                <a:cubicBezTo>
                  <a:pt x="177800" y="189151"/>
                  <a:pt x="189151" y="177800"/>
                  <a:pt x="203200" y="177800"/>
                </a:cubicBezTo>
                <a:lnTo>
                  <a:pt x="381000" y="177800"/>
                </a:lnTo>
                <a:cubicBezTo>
                  <a:pt x="395049" y="177800"/>
                  <a:pt x="406400" y="189151"/>
                  <a:pt x="406400" y="203200"/>
                </a:cubicBezTo>
                <a:cubicBezTo>
                  <a:pt x="406400" y="217249"/>
                  <a:pt x="395049" y="228600"/>
                  <a:pt x="381000" y="228600"/>
                </a:cubicBezTo>
                <a:lnTo>
                  <a:pt x="203200" y="228600"/>
                </a:lnTo>
                <a:cubicBezTo>
                  <a:pt x="189151" y="228600"/>
                  <a:pt x="177800" y="217249"/>
                  <a:pt x="177800" y="203200"/>
                </a:cubicBezTo>
                <a:close/>
                <a:moveTo>
                  <a:pt x="127000" y="330200"/>
                </a:moveTo>
                <a:cubicBezTo>
                  <a:pt x="127000" y="316151"/>
                  <a:pt x="138351" y="304800"/>
                  <a:pt x="152400" y="304800"/>
                </a:cubicBezTo>
                <a:lnTo>
                  <a:pt x="381000" y="304800"/>
                </a:lnTo>
                <a:cubicBezTo>
                  <a:pt x="395049" y="304800"/>
                  <a:pt x="406400" y="316151"/>
                  <a:pt x="406400" y="330200"/>
                </a:cubicBezTo>
                <a:cubicBezTo>
                  <a:pt x="406400" y="344249"/>
                  <a:pt x="395049" y="355600"/>
                  <a:pt x="381000" y="355600"/>
                </a:cubicBezTo>
                <a:lnTo>
                  <a:pt x="152400" y="355600"/>
                </a:lnTo>
                <a:cubicBezTo>
                  <a:pt x="138351" y="355600"/>
                  <a:pt x="127000" y="344249"/>
                  <a:pt x="127000" y="330200"/>
                </a:cubicBezTo>
                <a:close/>
                <a:moveTo>
                  <a:pt x="50800" y="298450"/>
                </a:moveTo>
                <a:cubicBezTo>
                  <a:pt x="68323" y="298450"/>
                  <a:pt x="82550" y="312677"/>
                  <a:pt x="82550" y="330200"/>
                </a:cubicBezTo>
                <a:cubicBezTo>
                  <a:pt x="82550" y="347723"/>
                  <a:pt x="68323" y="361950"/>
                  <a:pt x="50800" y="361950"/>
                </a:cubicBezTo>
                <a:cubicBezTo>
                  <a:pt x="33277" y="361950"/>
                  <a:pt x="19050" y="347723"/>
                  <a:pt x="19050" y="330200"/>
                </a:cubicBezTo>
                <a:cubicBezTo>
                  <a:pt x="19050" y="312677"/>
                  <a:pt x="33277" y="298450"/>
                  <a:pt x="50800" y="298450"/>
                </a:cubicBezTo>
                <a:close/>
              </a:path>
            </a:pathLst>
          </a:custGeom>
          <a:solidFill>
            <a:srgbClr val="E85D3F"/>
          </a:solidFill>
        </p:spPr>
      </p:sp>
      <p:sp>
        <p:nvSpPr>
          <p:cNvPr id="7" name="Text 5"/>
          <p:cNvSpPr/>
          <p:nvPr/>
        </p:nvSpPr>
        <p:spPr>
          <a:xfrm>
            <a:off x="1714500" y="2032000"/>
            <a:ext cx="5842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4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Rule-based detection</a:t>
            </a:r>
            <a:endParaRPr lang="en-US" sz="2400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Relies on predefined rules, not adaptive learning</a:t>
            </a:r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7112000" cy="1270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9" name="Shape 7"/>
          <p:cNvSpPr/>
          <p:nvPr/>
        </p:nvSpPr>
        <p:spPr>
          <a:xfrm>
            <a:off x="8699500" y="2260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9321" y="222250"/>
                </a:moveTo>
                <a:lnTo>
                  <a:pt x="127794" y="222250"/>
                </a:lnTo>
                <a:cubicBezTo>
                  <a:pt x="130096" y="273447"/>
                  <a:pt x="141446" y="320596"/>
                  <a:pt x="157559" y="355124"/>
                </a:cubicBezTo>
                <a:cubicBezTo>
                  <a:pt x="166608" y="374571"/>
                  <a:pt x="176371" y="388303"/>
                  <a:pt x="185420" y="396716"/>
                </a:cubicBezTo>
                <a:cubicBezTo>
                  <a:pt x="194310" y="405051"/>
                  <a:pt x="200422" y="406400"/>
                  <a:pt x="203597" y="406400"/>
                </a:cubicBezTo>
                <a:cubicBezTo>
                  <a:pt x="206772" y="406400"/>
                  <a:pt x="212884" y="405051"/>
                  <a:pt x="221774" y="396716"/>
                </a:cubicBezTo>
                <a:cubicBezTo>
                  <a:pt x="230822" y="388302"/>
                  <a:pt x="240586" y="374491"/>
                  <a:pt x="249634" y="355124"/>
                </a:cubicBezTo>
                <a:cubicBezTo>
                  <a:pt x="265747" y="320596"/>
                  <a:pt x="277098" y="273447"/>
                  <a:pt x="279400" y="222250"/>
                </a:cubicBezTo>
                <a:close/>
                <a:moveTo>
                  <a:pt x="127714" y="184150"/>
                </a:moveTo>
                <a:lnTo>
                  <a:pt x="279241" y="184150"/>
                </a:lnTo>
                <a:cubicBezTo>
                  <a:pt x="277019" y="132953"/>
                  <a:pt x="265668" y="85804"/>
                  <a:pt x="249555" y="51276"/>
                </a:cubicBezTo>
                <a:cubicBezTo>
                  <a:pt x="240506" y="31909"/>
                  <a:pt x="230743" y="18098"/>
                  <a:pt x="221694" y="9684"/>
                </a:cubicBezTo>
                <a:cubicBezTo>
                  <a:pt x="212804" y="1349"/>
                  <a:pt x="206692" y="0"/>
                  <a:pt x="203518" y="0"/>
                </a:cubicBezTo>
                <a:cubicBezTo>
                  <a:pt x="200342" y="0"/>
                  <a:pt x="194231" y="1349"/>
                  <a:pt x="185341" y="9684"/>
                </a:cubicBezTo>
                <a:cubicBezTo>
                  <a:pt x="176292" y="18098"/>
                  <a:pt x="166529" y="31909"/>
                  <a:pt x="157480" y="51276"/>
                </a:cubicBezTo>
                <a:cubicBezTo>
                  <a:pt x="141367" y="85804"/>
                  <a:pt x="130016" y="132953"/>
                  <a:pt x="127714" y="184150"/>
                </a:cubicBezTo>
                <a:close/>
                <a:moveTo>
                  <a:pt x="89614" y="184150"/>
                </a:moveTo>
                <a:cubicBezTo>
                  <a:pt x="92393" y="116205"/>
                  <a:pt x="109934" y="53102"/>
                  <a:pt x="135573" y="11668"/>
                </a:cubicBezTo>
                <a:cubicBezTo>
                  <a:pt x="62468" y="37544"/>
                  <a:pt x="8652" y="104140"/>
                  <a:pt x="1191" y="184150"/>
                </a:cubicBezTo>
                <a:lnTo>
                  <a:pt x="89614" y="184150"/>
                </a:lnTo>
                <a:close/>
                <a:moveTo>
                  <a:pt x="1191" y="222250"/>
                </a:moveTo>
                <a:cubicBezTo>
                  <a:pt x="8652" y="302260"/>
                  <a:pt x="62468" y="368856"/>
                  <a:pt x="135573" y="394732"/>
                </a:cubicBezTo>
                <a:cubicBezTo>
                  <a:pt x="109934" y="353298"/>
                  <a:pt x="92393" y="290195"/>
                  <a:pt x="89614" y="222250"/>
                </a:cubicBezTo>
                <a:lnTo>
                  <a:pt x="1191" y="222250"/>
                </a:lnTo>
                <a:close/>
                <a:moveTo>
                  <a:pt x="317421" y="222250"/>
                </a:moveTo>
                <a:cubicBezTo>
                  <a:pt x="314643" y="290195"/>
                  <a:pt x="297101" y="353298"/>
                  <a:pt x="271463" y="394732"/>
                </a:cubicBezTo>
                <a:cubicBezTo>
                  <a:pt x="344567" y="368776"/>
                  <a:pt x="398383" y="302260"/>
                  <a:pt x="405844" y="222250"/>
                </a:cubicBezTo>
                <a:lnTo>
                  <a:pt x="317421" y="222250"/>
                </a:lnTo>
                <a:close/>
                <a:moveTo>
                  <a:pt x="405844" y="184150"/>
                </a:moveTo>
                <a:cubicBezTo>
                  <a:pt x="398383" y="104140"/>
                  <a:pt x="344567" y="37544"/>
                  <a:pt x="271463" y="11668"/>
                </a:cubicBezTo>
                <a:cubicBezTo>
                  <a:pt x="297101" y="53102"/>
                  <a:pt x="314643" y="116205"/>
                  <a:pt x="317421" y="184150"/>
                </a:cubicBezTo>
                <a:lnTo>
                  <a:pt x="405844" y="184150"/>
                </a:lnTo>
                <a:close/>
              </a:path>
            </a:pathLst>
          </a:custGeom>
          <a:solidFill>
            <a:srgbClr val="E85D3F"/>
          </a:solidFill>
        </p:spPr>
      </p:sp>
      <p:sp>
        <p:nvSpPr>
          <p:cNvPr id="10" name="Text 8"/>
          <p:cNvSpPr/>
          <p:nvPr/>
        </p:nvSpPr>
        <p:spPr>
          <a:xfrm>
            <a:off x="9334500" y="2032000"/>
            <a:ext cx="5842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4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Limited trusted domains</a:t>
            </a:r>
            <a:endParaRPr lang="en-US" sz="2400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Small whitelist may miss legitimate senders</a:t>
            </a:r>
          </a:p>
        </p:txBody>
      </p:sp>
      <p:sp>
        <p:nvSpPr>
          <p:cNvPr id="11" name="Shape 9"/>
          <p:cNvSpPr/>
          <p:nvPr/>
        </p:nvSpPr>
        <p:spPr>
          <a:xfrm>
            <a:off x="762000" y="3556000"/>
            <a:ext cx="7112000" cy="1270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2" name="Shape 10"/>
          <p:cNvSpPr/>
          <p:nvPr/>
        </p:nvSpPr>
        <p:spPr>
          <a:xfrm>
            <a:off x="1079500" y="3911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E85D3F"/>
          </a:solidFill>
        </p:spPr>
      </p:sp>
      <p:sp>
        <p:nvSpPr>
          <p:cNvPr id="13" name="Text 11"/>
          <p:cNvSpPr/>
          <p:nvPr/>
        </p:nvSpPr>
        <p:spPr>
          <a:xfrm>
            <a:off x="1714500" y="3683000"/>
            <a:ext cx="5842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4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 machine learning</a:t>
            </a:r>
            <a:endParaRPr lang="en-US" sz="2400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Cannot learn from new attack patterns</a:t>
            </a:r>
          </a:p>
        </p:txBody>
      </p:sp>
      <p:sp>
        <p:nvSpPr>
          <p:cNvPr id="14" name="Shape 12"/>
          <p:cNvSpPr/>
          <p:nvPr/>
        </p:nvSpPr>
        <p:spPr>
          <a:xfrm>
            <a:off x="8382000" y="3556000"/>
            <a:ext cx="7112000" cy="1270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5" name="Shape 13"/>
          <p:cNvSpPr/>
          <p:nvPr/>
        </p:nvSpPr>
        <p:spPr>
          <a:xfrm>
            <a:off x="8699500" y="3911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50800"/>
                </a:moveTo>
                <a:cubicBezTo>
                  <a:pt x="45156" y="50800"/>
                  <a:pt x="0" y="127000"/>
                  <a:pt x="0" y="215900"/>
                </a:cubicBezTo>
                <a:cubicBezTo>
                  <a:pt x="0" y="304800"/>
                  <a:pt x="56444" y="355600"/>
                  <a:pt x="124178" y="355600"/>
                </a:cubicBezTo>
                <a:lnTo>
                  <a:pt x="130104" y="355600"/>
                </a:lnTo>
                <a:cubicBezTo>
                  <a:pt x="147179" y="355600"/>
                  <a:pt x="162842" y="344726"/>
                  <a:pt x="170462" y="327501"/>
                </a:cubicBezTo>
                <a:lnTo>
                  <a:pt x="186831" y="290751"/>
                </a:lnTo>
                <a:cubicBezTo>
                  <a:pt x="189936" y="283766"/>
                  <a:pt x="196215" y="279400"/>
                  <a:pt x="203200" y="279400"/>
                </a:cubicBezTo>
                <a:cubicBezTo>
                  <a:pt x="210185" y="279400"/>
                  <a:pt x="216464" y="283766"/>
                  <a:pt x="219569" y="290751"/>
                </a:cubicBezTo>
                <a:lnTo>
                  <a:pt x="235938" y="327501"/>
                </a:lnTo>
                <a:cubicBezTo>
                  <a:pt x="243558" y="344726"/>
                  <a:pt x="259221" y="355600"/>
                  <a:pt x="276296" y="355600"/>
                </a:cubicBezTo>
                <a:lnTo>
                  <a:pt x="282222" y="355600"/>
                </a:lnTo>
                <a:cubicBezTo>
                  <a:pt x="349956" y="355600"/>
                  <a:pt x="406400" y="304800"/>
                  <a:pt x="406400" y="215900"/>
                </a:cubicBezTo>
                <a:cubicBezTo>
                  <a:pt x="406400" y="127000"/>
                  <a:pt x="361244" y="50800"/>
                  <a:pt x="203200" y="50800"/>
                </a:cubicBezTo>
                <a:close/>
                <a:moveTo>
                  <a:pt x="67733" y="203200"/>
                </a:moveTo>
                <a:cubicBezTo>
                  <a:pt x="67733" y="175163"/>
                  <a:pt x="87967" y="152400"/>
                  <a:pt x="112889" y="152400"/>
                </a:cubicBezTo>
                <a:cubicBezTo>
                  <a:pt x="137811" y="152400"/>
                  <a:pt x="158044" y="175163"/>
                  <a:pt x="158044" y="203200"/>
                </a:cubicBezTo>
                <a:cubicBezTo>
                  <a:pt x="158044" y="231237"/>
                  <a:pt x="137811" y="254000"/>
                  <a:pt x="112889" y="254000"/>
                </a:cubicBezTo>
                <a:cubicBezTo>
                  <a:pt x="87967" y="254000"/>
                  <a:pt x="67733" y="231237"/>
                  <a:pt x="67733" y="203200"/>
                </a:cubicBezTo>
                <a:close/>
                <a:moveTo>
                  <a:pt x="293511" y="152400"/>
                </a:moveTo>
                <a:cubicBezTo>
                  <a:pt x="318433" y="152400"/>
                  <a:pt x="338667" y="175163"/>
                  <a:pt x="338667" y="203200"/>
                </a:cubicBezTo>
                <a:cubicBezTo>
                  <a:pt x="338667" y="231237"/>
                  <a:pt x="318433" y="254000"/>
                  <a:pt x="293511" y="254000"/>
                </a:cubicBezTo>
                <a:cubicBezTo>
                  <a:pt x="268589" y="254000"/>
                  <a:pt x="248356" y="231237"/>
                  <a:pt x="248356" y="203200"/>
                </a:cubicBezTo>
                <a:cubicBezTo>
                  <a:pt x="248356" y="175163"/>
                  <a:pt x="268589" y="152400"/>
                  <a:pt x="293511" y="152400"/>
                </a:cubicBezTo>
                <a:close/>
              </a:path>
            </a:pathLst>
          </a:custGeom>
          <a:solidFill>
            <a:srgbClr val="E85D3F"/>
          </a:solidFill>
        </p:spPr>
      </p:sp>
      <p:sp>
        <p:nvSpPr>
          <p:cNvPr id="16" name="Text 14"/>
          <p:cNvSpPr/>
          <p:nvPr/>
        </p:nvSpPr>
        <p:spPr>
          <a:xfrm>
            <a:off x="9334500" y="3683000"/>
            <a:ext cx="5842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4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Cannot detect advanced phishing</a:t>
            </a:r>
            <a:endParaRPr lang="en-US" sz="2400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Misses sophisticated social engineering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7620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100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Future Improvements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4572000" cy="2286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6" name="Shape 4"/>
          <p:cNvSpPr/>
          <p:nvPr/>
        </p:nvSpPr>
        <p:spPr>
          <a:xfrm>
            <a:off x="2540000" y="1905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49250" y="0"/>
                </a:moveTo>
                <a:cubicBezTo>
                  <a:pt x="349250" y="-21952"/>
                  <a:pt x="335062" y="-39687"/>
                  <a:pt x="317500" y="-39687"/>
                </a:cubicBezTo>
                <a:cubicBezTo>
                  <a:pt x="299938" y="-39687"/>
                  <a:pt x="285750" y="-21952"/>
                  <a:pt x="285750" y="0"/>
                </a:cubicBezTo>
                <a:lnTo>
                  <a:pt x="285750" y="79375"/>
                </a:lnTo>
                <a:lnTo>
                  <a:pt x="190500" y="79375"/>
                </a:lnTo>
                <a:cubicBezTo>
                  <a:pt x="137914" y="79375"/>
                  <a:pt x="95250" y="132705"/>
                  <a:pt x="95250" y="198438"/>
                </a:cubicBezTo>
                <a:lnTo>
                  <a:pt x="95250" y="476250"/>
                </a:lnTo>
                <a:cubicBezTo>
                  <a:pt x="95250" y="541982"/>
                  <a:pt x="137914" y="595313"/>
                  <a:pt x="190500" y="595313"/>
                </a:cubicBezTo>
                <a:lnTo>
                  <a:pt x="444500" y="595313"/>
                </a:lnTo>
                <a:cubicBezTo>
                  <a:pt x="497086" y="595313"/>
                  <a:pt x="539750" y="541982"/>
                  <a:pt x="539750" y="476250"/>
                </a:cubicBezTo>
                <a:lnTo>
                  <a:pt x="539750" y="198438"/>
                </a:lnTo>
                <a:cubicBezTo>
                  <a:pt x="539750" y="132705"/>
                  <a:pt x="497086" y="79375"/>
                  <a:pt x="444500" y="79375"/>
                </a:cubicBezTo>
                <a:lnTo>
                  <a:pt x="349250" y="79375"/>
                </a:lnTo>
                <a:lnTo>
                  <a:pt x="349250" y="0"/>
                </a:lnTo>
                <a:close/>
                <a:moveTo>
                  <a:pt x="158750" y="456406"/>
                </a:moveTo>
                <a:cubicBezTo>
                  <a:pt x="158750" y="439911"/>
                  <a:pt x="169366" y="426641"/>
                  <a:pt x="182563" y="426641"/>
                </a:cubicBezTo>
                <a:lnTo>
                  <a:pt x="214313" y="426641"/>
                </a:lnTo>
                <a:cubicBezTo>
                  <a:pt x="227509" y="426641"/>
                  <a:pt x="238125" y="439911"/>
                  <a:pt x="238125" y="456406"/>
                </a:cubicBezTo>
                <a:cubicBezTo>
                  <a:pt x="238125" y="472901"/>
                  <a:pt x="227509" y="486172"/>
                  <a:pt x="214313" y="486172"/>
                </a:cubicBezTo>
                <a:lnTo>
                  <a:pt x="182563" y="486172"/>
                </a:lnTo>
                <a:cubicBezTo>
                  <a:pt x="169366" y="486172"/>
                  <a:pt x="158750" y="472901"/>
                  <a:pt x="158750" y="456406"/>
                </a:cubicBezTo>
                <a:close/>
                <a:moveTo>
                  <a:pt x="277813" y="456406"/>
                </a:moveTo>
                <a:cubicBezTo>
                  <a:pt x="277813" y="439911"/>
                  <a:pt x="288429" y="426641"/>
                  <a:pt x="301625" y="426641"/>
                </a:cubicBezTo>
                <a:lnTo>
                  <a:pt x="333375" y="426641"/>
                </a:lnTo>
                <a:cubicBezTo>
                  <a:pt x="346571" y="426641"/>
                  <a:pt x="357188" y="439911"/>
                  <a:pt x="357188" y="456406"/>
                </a:cubicBezTo>
                <a:cubicBezTo>
                  <a:pt x="357188" y="472901"/>
                  <a:pt x="346571" y="486172"/>
                  <a:pt x="333375" y="486172"/>
                </a:cubicBezTo>
                <a:lnTo>
                  <a:pt x="301625" y="486172"/>
                </a:lnTo>
                <a:cubicBezTo>
                  <a:pt x="288429" y="486172"/>
                  <a:pt x="277813" y="472901"/>
                  <a:pt x="277813" y="456406"/>
                </a:cubicBezTo>
                <a:close/>
                <a:moveTo>
                  <a:pt x="396875" y="456406"/>
                </a:moveTo>
                <a:cubicBezTo>
                  <a:pt x="396875" y="439911"/>
                  <a:pt x="407491" y="426641"/>
                  <a:pt x="420688" y="426641"/>
                </a:cubicBezTo>
                <a:lnTo>
                  <a:pt x="452437" y="426641"/>
                </a:lnTo>
                <a:cubicBezTo>
                  <a:pt x="465634" y="426641"/>
                  <a:pt x="476250" y="439911"/>
                  <a:pt x="476250" y="456406"/>
                </a:cubicBezTo>
                <a:cubicBezTo>
                  <a:pt x="476250" y="472901"/>
                  <a:pt x="465634" y="486172"/>
                  <a:pt x="452437" y="486172"/>
                </a:cubicBezTo>
                <a:lnTo>
                  <a:pt x="420688" y="486172"/>
                </a:lnTo>
                <a:cubicBezTo>
                  <a:pt x="407491" y="486172"/>
                  <a:pt x="396875" y="472901"/>
                  <a:pt x="396875" y="456406"/>
                </a:cubicBezTo>
                <a:close/>
                <a:moveTo>
                  <a:pt x="222250" y="218281"/>
                </a:moveTo>
                <a:cubicBezTo>
                  <a:pt x="248535" y="218281"/>
                  <a:pt x="269875" y="244956"/>
                  <a:pt x="269875" y="277813"/>
                </a:cubicBezTo>
                <a:cubicBezTo>
                  <a:pt x="269875" y="310669"/>
                  <a:pt x="248535" y="337344"/>
                  <a:pt x="222250" y="337344"/>
                </a:cubicBezTo>
                <a:cubicBezTo>
                  <a:pt x="195965" y="337344"/>
                  <a:pt x="174625" y="310669"/>
                  <a:pt x="174625" y="277813"/>
                </a:cubicBezTo>
                <a:cubicBezTo>
                  <a:pt x="174625" y="244956"/>
                  <a:pt x="195965" y="218281"/>
                  <a:pt x="222250" y="218281"/>
                </a:cubicBezTo>
                <a:close/>
                <a:moveTo>
                  <a:pt x="365125" y="277813"/>
                </a:moveTo>
                <a:cubicBezTo>
                  <a:pt x="365125" y="244956"/>
                  <a:pt x="386465" y="218281"/>
                  <a:pt x="412750" y="218281"/>
                </a:cubicBezTo>
                <a:cubicBezTo>
                  <a:pt x="439035" y="218281"/>
                  <a:pt x="460375" y="244956"/>
                  <a:pt x="460375" y="277813"/>
                </a:cubicBezTo>
                <a:cubicBezTo>
                  <a:pt x="460375" y="310669"/>
                  <a:pt x="439035" y="337344"/>
                  <a:pt x="412750" y="337344"/>
                </a:cubicBezTo>
                <a:cubicBezTo>
                  <a:pt x="386465" y="337344"/>
                  <a:pt x="365125" y="310669"/>
                  <a:pt x="365125" y="277813"/>
                </a:cubicBezTo>
                <a:close/>
                <a:moveTo>
                  <a:pt x="63500" y="277813"/>
                </a:moveTo>
                <a:cubicBezTo>
                  <a:pt x="63500" y="255860"/>
                  <a:pt x="49312" y="238125"/>
                  <a:pt x="31750" y="238125"/>
                </a:cubicBezTo>
                <a:cubicBezTo>
                  <a:pt x="14188" y="238125"/>
                  <a:pt x="0" y="255860"/>
                  <a:pt x="0" y="277813"/>
                </a:cubicBezTo>
                <a:lnTo>
                  <a:pt x="0" y="396875"/>
                </a:lnTo>
                <a:cubicBezTo>
                  <a:pt x="0" y="418827"/>
                  <a:pt x="14188" y="436563"/>
                  <a:pt x="31750" y="436563"/>
                </a:cubicBezTo>
                <a:cubicBezTo>
                  <a:pt x="49312" y="436563"/>
                  <a:pt x="63500" y="418827"/>
                  <a:pt x="63500" y="396875"/>
                </a:cubicBezTo>
                <a:lnTo>
                  <a:pt x="63500" y="277813"/>
                </a:lnTo>
                <a:close/>
                <a:moveTo>
                  <a:pt x="603250" y="238125"/>
                </a:moveTo>
                <a:cubicBezTo>
                  <a:pt x="585688" y="238125"/>
                  <a:pt x="571500" y="255860"/>
                  <a:pt x="571500" y="277813"/>
                </a:cubicBezTo>
                <a:lnTo>
                  <a:pt x="571500" y="396875"/>
                </a:lnTo>
                <a:cubicBezTo>
                  <a:pt x="571500" y="418827"/>
                  <a:pt x="585688" y="436563"/>
                  <a:pt x="603250" y="436563"/>
                </a:cubicBezTo>
                <a:cubicBezTo>
                  <a:pt x="620812" y="436563"/>
                  <a:pt x="635000" y="418827"/>
                  <a:pt x="635000" y="396875"/>
                </a:cubicBezTo>
                <a:lnTo>
                  <a:pt x="635000" y="277813"/>
                </a:lnTo>
                <a:cubicBezTo>
                  <a:pt x="635000" y="255860"/>
                  <a:pt x="620812" y="238125"/>
                  <a:pt x="603250" y="238125"/>
                </a:cubicBezTo>
                <a:close/>
              </a:path>
            </a:pathLst>
          </a:custGeom>
          <a:solidFill>
            <a:srgbClr val="F5A623"/>
          </a:solidFill>
        </p:spPr>
      </p:sp>
      <p:sp>
        <p:nvSpPr>
          <p:cNvPr id="7" name="Text 5"/>
          <p:cNvSpPr/>
          <p:nvPr/>
        </p:nvSpPr>
        <p:spPr>
          <a:xfrm>
            <a:off x="762000" y="2668905"/>
            <a:ext cx="4572000" cy="5060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AI-Based Detection</a:t>
            </a:r>
          </a:p>
        </p:txBody>
      </p:sp>
      <p:sp>
        <p:nvSpPr>
          <p:cNvPr id="8" name="Text 6"/>
          <p:cNvSpPr/>
          <p:nvPr/>
        </p:nvSpPr>
        <p:spPr>
          <a:xfrm>
            <a:off x="1016000" y="3253105"/>
            <a:ext cx="4064000" cy="10648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Smart pattern recognition beyond rules</a:t>
            </a:r>
          </a:p>
        </p:txBody>
      </p:sp>
      <p:sp>
        <p:nvSpPr>
          <p:cNvPr id="9" name="Shape 7"/>
          <p:cNvSpPr/>
          <p:nvPr/>
        </p:nvSpPr>
        <p:spPr>
          <a:xfrm>
            <a:off x="5842000" y="1905000"/>
            <a:ext cx="4572000" cy="2286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0" name="Shape 8"/>
          <p:cNvSpPr/>
          <p:nvPr/>
        </p:nvSpPr>
        <p:spPr>
          <a:xfrm>
            <a:off x="7620000" y="1905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79375" y="79375"/>
                </a:moveTo>
                <a:cubicBezTo>
                  <a:pt x="79375" y="57423"/>
                  <a:pt x="61640" y="39688"/>
                  <a:pt x="39688" y="39688"/>
                </a:cubicBezTo>
                <a:cubicBezTo>
                  <a:pt x="17735" y="39688"/>
                  <a:pt x="0" y="57423"/>
                  <a:pt x="0" y="79375"/>
                </a:cubicBezTo>
                <a:lnTo>
                  <a:pt x="0" y="496094"/>
                </a:lnTo>
                <a:cubicBezTo>
                  <a:pt x="0" y="550912"/>
                  <a:pt x="44400" y="595313"/>
                  <a:pt x="99219" y="595313"/>
                </a:cubicBezTo>
                <a:lnTo>
                  <a:pt x="595313" y="595313"/>
                </a:lnTo>
                <a:cubicBezTo>
                  <a:pt x="617265" y="595313"/>
                  <a:pt x="635000" y="577577"/>
                  <a:pt x="635000" y="555625"/>
                </a:cubicBezTo>
                <a:cubicBezTo>
                  <a:pt x="635000" y="533673"/>
                  <a:pt x="617265" y="515937"/>
                  <a:pt x="595313" y="515937"/>
                </a:cubicBezTo>
                <a:lnTo>
                  <a:pt x="99219" y="515937"/>
                </a:lnTo>
                <a:cubicBezTo>
                  <a:pt x="88305" y="515937"/>
                  <a:pt x="79375" y="507008"/>
                  <a:pt x="79375" y="496094"/>
                </a:cubicBezTo>
                <a:lnTo>
                  <a:pt x="79375" y="79375"/>
                </a:lnTo>
                <a:close/>
                <a:moveTo>
                  <a:pt x="583654" y="186779"/>
                </a:moveTo>
                <a:cubicBezTo>
                  <a:pt x="599157" y="171276"/>
                  <a:pt x="599157" y="146100"/>
                  <a:pt x="583654" y="130597"/>
                </a:cubicBezTo>
                <a:cubicBezTo>
                  <a:pt x="568151" y="115094"/>
                  <a:pt x="542975" y="115094"/>
                  <a:pt x="527472" y="130597"/>
                </a:cubicBezTo>
                <a:lnTo>
                  <a:pt x="396875" y="261317"/>
                </a:lnTo>
                <a:lnTo>
                  <a:pt x="325686" y="190252"/>
                </a:lnTo>
                <a:cubicBezTo>
                  <a:pt x="310183" y="174749"/>
                  <a:pt x="285006" y="174749"/>
                  <a:pt x="269503" y="190252"/>
                </a:cubicBezTo>
                <a:lnTo>
                  <a:pt x="150440" y="309314"/>
                </a:lnTo>
                <a:cubicBezTo>
                  <a:pt x="134938" y="324817"/>
                  <a:pt x="134938" y="349994"/>
                  <a:pt x="150440" y="365497"/>
                </a:cubicBezTo>
                <a:cubicBezTo>
                  <a:pt x="165943" y="381000"/>
                  <a:pt x="191120" y="381000"/>
                  <a:pt x="206623" y="365497"/>
                </a:cubicBezTo>
                <a:lnTo>
                  <a:pt x="297656" y="274464"/>
                </a:lnTo>
                <a:lnTo>
                  <a:pt x="368846" y="345653"/>
                </a:lnTo>
                <a:cubicBezTo>
                  <a:pt x="384349" y="361156"/>
                  <a:pt x="409525" y="361156"/>
                  <a:pt x="425028" y="345653"/>
                </a:cubicBezTo>
                <a:lnTo>
                  <a:pt x="583778" y="186903"/>
                </a:lnTo>
                <a:close/>
              </a:path>
            </a:pathLst>
          </a:custGeom>
          <a:solidFill>
            <a:srgbClr val="F5A623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42000" y="2804795"/>
            <a:ext cx="4572000" cy="3651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ML Integration</a:t>
            </a:r>
          </a:p>
        </p:txBody>
      </p:sp>
      <p:sp>
        <p:nvSpPr>
          <p:cNvPr id="12" name="Text 10"/>
          <p:cNvSpPr/>
          <p:nvPr/>
        </p:nvSpPr>
        <p:spPr>
          <a:xfrm>
            <a:off x="5867400" y="3244850"/>
            <a:ext cx="4539615" cy="755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Train models on phishing datasets</a:t>
            </a:r>
          </a:p>
        </p:txBody>
      </p:sp>
      <p:sp>
        <p:nvSpPr>
          <p:cNvPr id="13" name="Shape 11"/>
          <p:cNvSpPr/>
          <p:nvPr/>
        </p:nvSpPr>
        <p:spPr>
          <a:xfrm>
            <a:off x="10922000" y="1905000"/>
            <a:ext cx="4572000" cy="2286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4" name="Shape 12"/>
          <p:cNvSpPr/>
          <p:nvPr/>
        </p:nvSpPr>
        <p:spPr>
          <a:xfrm>
            <a:off x="12700000" y="2159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96904" y="14263"/>
                </a:moveTo>
                <a:cubicBezTo>
                  <a:pt x="84446" y="5705"/>
                  <a:pt x="68130" y="10294"/>
                  <a:pt x="60523" y="24309"/>
                </a:cubicBezTo>
                <a:cubicBezTo>
                  <a:pt x="33183" y="75158"/>
                  <a:pt x="17529" y="134813"/>
                  <a:pt x="17529" y="198438"/>
                </a:cubicBezTo>
                <a:cubicBezTo>
                  <a:pt x="17529" y="262062"/>
                  <a:pt x="33183" y="321717"/>
                  <a:pt x="60523" y="372566"/>
                </a:cubicBezTo>
                <a:cubicBezTo>
                  <a:pt x="68130" y="386581"/>
                  <a:pt x="84336" y="391170"/>
                  <a:pt x="96904" y="382612"/>
                </a:cubicBezTo>
                <a:cubicBezTo>
                  <a:pt x="109471" y="374055"/>
                  <a:pt x="113440" y="355823"/>
                  <a:pt x="105833" y="341685"/>
                </a:cubicBezTo>
                <a:cubicBezTo>
                  <a:pt x="83454" y="300013"/>
                  <a:pt x="70556" y="250899"/>
                  <a:pt x="70556" y="198438"/>
                </a:cubicBezTo>
                <a:cubicBezTo>
                  <a:pt x="70556" y="145976"/>
                  <a:pt x="83454" y="96862"/>
                  <a:pt x="105944" y="55066"/>
                </a:cubicBezTo>
                <a:cubicBezTo>
                  <a:pt x="113550" y="41052"/>
                  <a:pt x="109471" y="22696"/>
                  <a:pt x="97014" y="14139"/>
                </a:cubicBezTo>
                <a:close/>
                <a:moveTo>
                  <a:pt x="537986" y="14263"/>
                </a:moveTo>
                <a:cubicBezTo>
                  <a:pt x="525529" y="22820"/>
                  <a:pt x="521450" y="41052"/>
                  <a:pt x="529056" y="55190"/>
                </a:cubicBezTo>
                <a:cubicBezTo>
                  <a:pt x="551546" y="96986"/>
                  <a:pt x="564444" y="146100"/>
                  <a:pt x="564444" y="198562"/>
                </a:cubicBezTo>
                <a:cubicBezTo>
                  <a:pt x="564444" y="251023"/>
                  <a:pt x="551546" y="300137"/>
                  <a:pt x="529056" y="341933"/>
                </a:cubicBezTo>
                <a:cubicBezTo>
                  <a:pt x="521450" y="355947"/>
                  <a:pt x="525529" y="374303"/>
                  <a:pt x="537986" y="382860"/>
                </a:cubicBezTo>
                <a:cubicBezTo>
                  <a:pt x="550444" y="391418"/>
                  <a:pt x="566760" y="386829"/>
                  <a:pt x="574366" y="372814"/>
                </a:cubicBezTo>
                <a:cubicBezTo>
                  <a:pt x="601707" y="321965"/>
                  <a:pt x="617361" y="262310"/>
                  <a:pt x="617361" y="198686"/>
                </a:cubicBezTo>
                <a:cubicBezTo>
                  <a:pt x="617361" y="135062"/>
                  <a:pt x="601707" y="75158"/>
                  <a:pt x="574366" y="24309"/>
                </a:cubicBezTo>
                <a:cubicBezTo>
                  <a:pt x="566760" y="10294"/>
                  <a:pt x="550554" y="5705"/>
                  <a:pt x="537986" y="14263"/>
                </a:cubicBezTo>
                <a:close/>
                <a:moveTo>
                  <a:pt x="352778" y="267146"/>
                </a:moveTo>
                <a:cubicBezTo>
                  <a:pt x="373834" y="253380"/>
                  <a:pt x="388056" y="227831"/>
                  <a:pt x="388056" y="198438"/>
                </a:cubicBezTo>
                <a:cubicBezTo>
                  <a:pt x="388056" y="154657"/>
                  <a:pt x="356416" y="119062"/>
                  <a:pt x="317500" y="119062"/>
                </a:cubicBezTo>
                <a:cubicBezTo>
                  <a:pt x="278584" y="119062"/>
                  <a:pt x="246944" y="154657"/>
                  <a:pt x="246944" y="198438"/>
                </a:cubicBezTo>
                <a:cubicBezTo>
                  <a:pt x="246944" y="227831"/>
                  <a:pt x="261166" y="253504"/>
                  <a:pt x="282222" y="267146"/>
                </a:cubicBezTo>
                <a:lnTo>
                  <a:pt x="282222" y="595313"/>
                </a:lnTo>
                <a:cubicBezTo>
                  <a:pt x="282222" y="617265"/>
                  <a:pt x="297987" y="635000"/>
                  <a:pt x="317500" y="635000"/>
                </a:cubicBezTo>
                <a:cubicBezTo>
                  <a:pt x="337013" y="635000"/>
                  <a:pt x="352778" y="617265"/>
                  <a:pt x="352778" y="595313"/>
                </a:cubicBezTo>
                <a:lnTo>
                  <a:pt x="352778" y="267146"/>
                </a:lnTo>
                <a:close/>
                <a:moveTo>
                  <a:pt x="198658" y="112861"/>
                </a:moveTo>
                <a:cubicBezTo>
                  <a:pt x="206595" y="98971"/>
                  <a:pt x="202957" y="80615"/>
                  <a:pt x="190720" y="71686"/>
                </a:cubicBezTo>
                <a:cubicBezTo>
                  <a:pt x="178484" y="62756"/>
                  <a:pt x="162057" y="66849"/>
                  <a:pt x="154120" y="80615"/>
                </a:cubicBezTo>
                <a:cubicBezTo>
                  <a:pt x="134717" y="114598"/>
                  <a:pt x="123472" y="155029"/>
                  <a:pt x="123472" y="198438"/>
                </a:cubicBezTo>
                <a:cubicBezTo>
                  <a:pt x="123472" y="241846"/>
                  <a:pt x="134717" y="282277"/>
                  <a:pt x="154120" y="316260"/>
                </a:cubicBezTo>
                <a:cubicBezTo>
                  <a:pt x="162057" y="330150"/>
                  <a:pt x="178373" y="334119"/>
                  <a:pt x="190720" y="325189"/>
                </a:cubicBezTo>
                <a:cubicBezTo>
                  <a:pt x="203068" y="316260"/>
                  <a:pt x="206595" y="297904"/>
                  <a:pt x="198658" y="284014"/>
                </a:cubicBezTo>
                <a:cubicBezTo>
                  <a:pt x="184547" y="259333"/>
                  <a:pt x="176389" y="229939"/>
                  <a:pt x="176389" y="198438"/>
                </a:cubicBezTo>
                <a:cubicBezTo>
                  <a:pt x="176389" y="166936"/>
                  <a:pt x="184547" y="137542"/>
                  <a:pt x="198658" y="112861"/>
                </a:cubicBezTo>
                <a:close/>
                <a:moveTo>
                  <a:pt x="480880" y="80615"/>
                </a:moveTo>
                <a:cubicBezTo>
                  <a:pt x="472943" y="66725"/>
                  <a:pt x="456627" y="62756"/>
                  <a:pt x="444280" y="71686"/>
                </a:cubicBezTo>
                <a:cubicBezTo>
                  <a:pt x="431932" y="80615"/>
                  <a:pt x="428405" y="98971"/>
                  <a:pt x="436342" y="112861"/>
                </a:cubicBezTo>
                <a:cubicBezTo>
                  <a:pt x="450453" y="137542"/>
                  <a:pt x="458611" y="166936"/>
                  <a:pt x="458611" y="198438"/>
                </a:cubicBezTo>
                <a:cubicBezTo>
                  <a:pt x="458611" y="229939"/>
                  <a:pt x="450453" y="259333"/>
                  <a:pt x="436342" y="284014"/>
                </a:cubicBezTo>
                <a:cubicBezTo>
                  <a:pt x="428405" y="297904"/>
                  <a:pt x="432043" y="316260"/>
                  <a:pt x="444280" y="325189"/>
                </a:cubicBezTo>
                <a:cubicBezTo>
                  <a:pt x="456516" y="334119"/>
                  <a:pt x="472943" y="330026"/>
                  <a:pt x="480880" y="316260"/>
                </a:cubicBezTo>
                <a:cubicBezTo>
                  <a:pt x="500283" y="282277"/>
                  <a:pt x="511528" y="241846"/>
                  <a:pt x="511528" y="198438"/>
                </a:cubicBezTo>
                <a:cubicBezTo>
                  <a:pt x="511528" y="155029"/>
                  <a:pt x="500283" y="114598"/>
                  <a:pt x="480880" y="80615"/>
                </a:cubicBezTo>
                <a:close/>
              </a:path>
            </a:pathLst>
          </a:custGeom>
          <a:solidFill>
            <a:srgbClr val="F5A623"/>
          </a:solidFill>
        </p:spPr>
      </p:sp>
      <p:sp>
        <p:nvSpPr>
          <p:cNvPr id="15" name="Text 13"/>
          <p:cNvSpPr/>
          <p:nvPr/>
        </p:nvSpPr>
        <p:spPr>
          <a:xfrm>
            <a:off x="10922000" y="2984500"/>
            <a:ext cx="4572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Real-Time Monitoring</a:t>
            </a:r>
          </a:p>
        </p:txBody>
      </p:sp>
      <p:sp>
        <p:nvSpPr>
          <p:cNvPr id="16" name="Text 14"/>
          <p:cNvSpPr/>
          <p:nvPr/>
        </p:nvSpPr>
        <p:spPr>
          <a:xfrm>
            <a:off x="11176000" y="3492500"/>
            <a:ext cx="40640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Live email stream analysis</a:t>
            </a:r>
          </a:p>
        </p:txBody>
      </p:sp>
      <p:sp>
        <p:nvSpPr>
          <p:cNvPr id="17" name="Shape 15"/>
          <p:cNvSpPr/>
          <p:nvPr/>
        </p:nvSpPr>
        <p:spPr>
          <a:xfrm>
            <a:off x="3302000" y="4699000"/>
            <a:ext cx="4572000" cy="2286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8" name="Shape 16"/>
          <p:cNvSpPr/>
          <p:nvPr/>
        </p:nvSpPr>
        <p:spPr>
          <a:xfrm>
            <a:off x="5232400" y="47244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277813" y="0"/>
                </a:moveTo>
                <a:cubicBezTo>
                  <a:pt x="321593" y="0"/>
                  <a:pt x="357188" y="26665"/>
                  <a:pt x="357188" y="59531"/>
                </a:cubicBezTo>
                <a:cubicBezTo>
                  <a:pt x="357188" y="72430"/>
                  <a:pt x="351730" y="84336"/>
                  <a:pt x="342305" y="94134"/>
                </a:cubicBezTo>
                <a:cubicBezTo>
                  <a:pt x="334119" y="102691"/>
                  <a:pt x="327422" y="113109"/>
                  <a:pt x="327422" y="125016"/>
                </a:cubicBezTo>
                <a:cubicBezTo>
                  <a:pt x="327422" y="143619"/>
                  <a:pt x="342553" y="158750"/>
                  <a:pt x="361156" y="158750"/>
                </a:cubicBezTo>
                <a:lnTo>
                  <a:pt x="416719" y="158750"/>
                </a:lnTo>
                <a:cubicBezTo>
                  <a:pt x="449585" y="158750"/>
                  <a:pt x="476250" y="185415"/>
                  <a:pt x="476250" y="218281"/>
                </a:cubicBezTo>
                <a:lnTo>
                  <a:pt x="476250" y="273844"/>
                </a:lnTo>
                <a:cubicBezTo>
                  <a:pt x="476250" y="292447"/>
                  <a:pt x="491381" y="307578"/>
                  <a:pt x="509984" y="307578"/>
                </a:cubicBezTo>
                <a:cubicBezTo>
                  <a:pt x="521767" y="307578"/>
                  <a:pt x="532309" y="300881"/>
                  <a:pt x="540866" y="292695"/>
                </a:cubicBezTo>
                <a:cubicBezTo>
                  <a:pt x="550664" y="283394"/>
                  <a:pt x="562570" y="277813"/>
                  <a:pt x="575469" y="277813"/>
                </a:cubicBezTo>
                <a:cubicBezTo>
                  <a:pt x="608335" y="277813"/>
                  <a:pt x="635000" y="313407"/>
                  <a:pt x="635000" y="357188"/>
                </a:cubicBezTo>
                <a:cubicBezTo>
                  <a:pt x="635000" y="400968"/>
                  <a:pt x="608335" y="436563"/>
                  <a:pt x="575469" y="436563"/>
                </a:cubicBezTo>
                <a:cubicBezTo>
                  <a:pt x="562570" y="436563"/>
                  <a:pt x="550540" y="431105"/>
                  <a:pt x="540866" y="421680"/>
                </a:cubicBezTo>
                <a:cubicBezTo>
                  <a:pt x="532309" y="413494"/>
                  <a:pt x="521891" y="406797"/>
                  <a:pt x="509984" y="406797"/>
                </a:cubicBezTo>
                <a:cubicBezTo>
                  <a:pt x="491381" y="406797"/>
                  <a:pt x="476250" y="421928"/>
                  <a:pt x="476250" y="440531"/>
                </a:cubicBezTo>
                <a:lnTo>
                  <a:pt x="476250" y="575469"/>
                </a:lnTo>
                <a:cubicBezTo>
                  <a:pt x="476250" y="608335"/>
                  <a:pt x="449585" y="635000"/>
                  <a:pt x="416719" y="635000"/>
                </a:cubicBezTo>
                <a:lnTo>
                  <a:pt x="346273" y="635000"/>
                </a:lnTo>
                <a:cubicBezTo>
                  <a:pt x="330398" y="635000"/>
                  <a:pt x="317500" y="622102"/>
                  <a:pt x="317500" y="606227"/>
                </a:cubicBezTo>
                <a:cubicBezTo>
                  <a:pt x="317500" y="594816"/>
                  <a:pt x="324693" y="584771"/>
                  <a:pt x="333871" y="577949"/>
                </a:cubicBezTo>
                <a:cubicBezTo>
                  <a:pt x="348258" y="567159"/>
                  <a:pt x="357188" y="552276"/>
                  <a:pt x="357188" y="535781"/>
                </a:cubicBezTo>
                <a:cubicBezTo>
                  <a:pt x="357188" y="502915"/>
                  <a:pt x="321593" y="476250"/>
                  <a:pt x="277813" y="476250"/>
                </a:cubicBezTo>
                <a:cubicBezTo>
                  <a:pt x="234032" y="476250"/>
                  <a:pt x="198438" y="502915"/>
                  <a:pt x="198438" y="535781"/>
                </a:cubicBezTo>
                <a:cubicBezTo>
                  <a:pt x="198438" y="552276"/>
                  <a:pt x="207367" y="567159"/>
                  <a:pt x="221754" y="577949"/>
                </a:cubicBezTo>
                <a:cubicBezTo>
                  <a:pt x="230932" y="584771"/>
                  <a:pt x="238125" y="594692"/>
                  <a:pt x="238125" y="606227"/>
                </a:cubicBezTo>
                <a:cubicBezTo>
                  <a:pt x="238125" y="622102"/>
                  <a:pt x="225227" y="635000"/>
                  <a:pt x="209352" y="635000"/>
                </a:cubicBezTo>
                <a:lnTo>
                  <a:pt x="59531" y="635000"/>
                </a:lnTo>
                <a:cubicBezTo>
                  <a:pt x="26665" y="635000"/>
                  <a:pt x="0" y="608335"/>
                  <a:pt x="0" y="575469"/>
                </a:cubicBezTo>
                <a:lnTo>
                  <a:pt x="0" y="425648"/>
                </a:lnTo>
                <a:cubicBezTo>
                  <a:pt x="0" y="409773"/>
                  <a:pt x="12898" y="396875"/>
                  <a:pt x="28773" y="396875"/>
                </a:cubicBezTo>
                <a:cubicBezTo>
                  <a:pt x="40184" y="396875"/>
                  <a:pt x="50229" y="404068"/>
                  <a:pt x="57051" y="413246"/>
                </a:cubicBezTo>
                <a:cubicBezTo>
                  <a:pt x="67841" y="427633"/>
                  <a:pt x="82724" y="436563"/>
                  <a:pt x="99219" y="436563"/>
                </a:cubicBezTo>
                <a:cubicBezTo>
                  <a:pt x="132085" y="436563"/>
                  <a:pt x="158750" y="400968"/>
                  <a:pt x="158750" y="357188"/>
                </a:cubicBezTo>
                <a:cubicBezTo>
                  <a:pt x="158750" y="313407"/>
                  <a:pt x="132085" y="277813"/>
                  <a:pt x="99219" y="277813"/>
                </a:cubicBezTo>
                <a:cubicBezTo>
                  <a:pt x="82724" y="277813"/>
                  <a:pt x="67841" y="286742"/>
                  <a:pt x="57051" y="301129"/>
                </a:cubicBezTo>
                <a:cubicBezTo>
                  <a:pt x="50229" y="310307"/>
                  <a:pt x="40308" y="317500"/>
                  <a:pt x="28773" y="317500"/>
                </a:cubicBezTo>
                <a:cubicBezTo>
                  <a:pt x="12898" y="317500"/>
                  <a:pt x="0" y="304602"/>
                  <a:pt x="0" y="288727"/>
                </a:cubicBezTo>
                <a:lnTo>
                  <a:pt x="0" y="218281"/>
                </a:lnTo>
                <a:cubicBezTo>
                  <a:pt x="0" y="185415"/>
                  <a:pt x="26665" y="158750"/>
                  <a:pt x="59531" y="158750"/>
                </a:cubicBezTo>
                <a:lnTo>
                  <a:pt x="194469" y="158750"/>
                </a:lnTo>
                <a:cubicBezTo>
                  <a:pt x="213072" y="158750"/>
                  <a:pt x="228203" y="143619"/>
                  <a:pt x="228203" y="125016"/>
                </a:cubicBezTo>
                <a:cubicBezTo>
                  <a:pt x="228203" y="113233"/>
                  <a:pt x="221506" y="102691"/>
                  <a:pt x="213320" y="94134"/>
                </a:cubicBezTo>
                <a:cubicBezTo>
                  <a:pt x="204019" y="84336"/>
                  <a:pt x="198438" y="72430"/>
                  <a:pt x="198438" y="59531"/>
                </a:cubicBezTo>
                <a:cubicBezTo>
                  <a:pt x="198438" y="26665"/>
                  <a:pt x="234032" y="0"/>
                  <a:pt x="277813" y="0"/>
                </a:cubicBezTo>
                <a:close/>
              </a:path>
            </a:pathLst>
          </a:custGeom>
          <a:solidFill>
            <a:srgbClr val="F5A623"/>
          </a:solidFill>
        </p:spPr>
      </p:sp>
      <p:sp>
        <p:nvSpPr>
          <p:cNvPr id="19" name="Text 17"/>
          <p:cNvSpPr/>
          <p:nvPr/>
        </p:nvSpPr>
        <p:spPr>
          <a:xfrm>
            <a:off x="3302000" y="5639435"/>
            <a:ext cx="4572000" cy="4870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Browser Extension</a:t>
            </a:r>
          </a:p>
        </p:txBody>
      </p:sp>
      <p:sp>
        <p:nvSpPr>
          <p:cNvPr id="20" name="Text 18"/>
          <p:cNvSpPr/>
          <p:nvPr/>
        </p:nvSpPr>
        <p:spPr>
          <a:xfrm>
            <a:off x="3556000" y="6140450"/>
            <a:ext cx="4313555" cy="654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Web-based email client protection</a:t>
            </a:r>
          </a:p>
        </p:txBody>
      </p:sp>
      <p:sp>
        <p:nvSpPr>
          <p:cNvPr id="21" name="Shape 19"/>
          <p:cNvSpPr/>
          <p:nvPr/>
        </p:nvSpPr>
        <p:spPr>
          <a:xfrm>
            <a:off x="8382000" y="4699000"/>
            <a:ext cx="4572000" cy="2286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22" name="Shape 20"/>
          <p:cNvSpPr/>
          <p:nvPr/>
        </p:nvSpPr>
        <p:spPr>
          <a:xfrm>
            <a:off x="10160000" y="4953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635000" y="255240"/>
                </a:moveTo>
                <a:cubicBezTo>
                  <a:pt x="614022" y="267395"/>
                  <a:pt x="589926" y="277192"/>
                  <a:pt x="564838" y="285006"/>
                </a:cubicBezTo>
                <a:cubicBezTo>
                  <a:pt x="498220" y="305842"/>
                  <a:pt x="410766" y="317500"/>
                  <a:pt x="317500" y="317500"/>
                </a:cubicBezTo>
                <a:cubicBezTo>
                  <a:pt x="224234" y="317500"/>
                  <a:pt x="136638" y="305718"/>
                  <a:pt x="70162" y="285006"/>
                </a:cubicBezTo>
                <a:cubicBezTo>
                  <a:pt x="45215" y="277192"/>
                  <a:pt x="20978" y="267395"/>
                  <a:pt x="0" y="255240"/>
                </a:cubicBezTo>
                <a:lnTo>
                  <a:pt x="0" y="357188"/>
                </a:lnTo>
                <a:cubicBezTo>
                  <a:pt x="0" y="412006"/>
                  <a:pt x="142166" y="456406"/>
                  <a:pt x="317500" y="456406"/>
                </a:cubicBezTo>
                <a:cubicBezTo>
                  <a:pt x="492834" y="456406"/>
                  <a:pt x="635000" y="412006"/>
                  <a:pt x="635000" y="357188"/>
                </a:cubicBezTo>
                <a:lnTo>
                  <a:pt x="635000" y="255240"/>
                </a:lnTo>
                <a:close/>
                <a:moveTo>
                  <a:pt x="635000" y="158750"/>
                </a:moveTo>
                <a:lnTo>
                  <a:pt x="635000" y="99219"/>
                </a:lnTo>
                <a:cubicBezTo>
                  <a:pt x="635000" y="44400"/>
                  <a:pt x="492834" y="0"/>
                  <a:pt x="317500" y="0"/>
                </a:cubicBezTo>
                <a:cubicBezTo>
                  <a:pt x="142166" y="0"/>
                  <a:pt x="0" y="44400"/>
                  <a:pt x="0" y="99219"/>
                </a:cubicBezTo>
                <a:lnTo>
                  <a:pt x="0" y="158750"/>
                </a:lnTo>
                <a:cubicBezTo>
                  <a:pt x="0" y="213568"/>
                  <a:pt x="142166" y="257969"/>
                  <a:pt x="317500" y="257969"/>
                </a:cubicBezTo>
                <a:cubicBezTo>
                  <a:pt x="492834" y="257969"/>
                  <a:pt x="635000" y="213568"/>
                  <a:pt x="635000" y="158750"/>
                </a:cubicBezTo>
                <a:close/>
                <a:moveTo>
                  <a:pt x="564838" y="483443"/>
                </a:moveTo>
                <a:cubicBezTo>
                  <a:pt x="498362" y="504155"/>
                  <a:pt x="410907" y="515937"/>
                  <a:pt x="317500" y="515937"/>
                </a:cubicBezTo>
                <a:cubicBezTo>
                  <a:pt x="224093" y="515937"/>
                  <a:pt x="136638" y="504155"/>
                  <a:pt x="70162" y="483443"/>
                </a:cubicBezTo>
                <a:cubicBezTo>
                  <a:pt x="45215" y="475630"/>
                  <a:pt x="20978" y="465832"/>
                  <a:pt x="0" y="453678"/>
                </a:cubicBezTo>
                <a:lnTo>
                  <a:pt x="0" y="535781"/>
                </a:lnTo>
                <a:cubicBezTo>
                  <a:pt x="0" y="590600"/>
                  <a:pt x="142166" y="635000"/>
                  <a:pt x="317500" y="635000"/>
                </a:cubicBezTo>
                <a:cubicBezTo>
                  <a:pt x="492834" y="635000"/>
                  <a:pt x="635000" y="590600"/>
                  <a:pt x="635000" y="535781"/>
                </a:cubicBezTo>
                <a:lnTo>
                  <a:pt x="635000" y="453678"/>
                </a:lnTo>
                <a:cubicBezTo>
                  <a:pt x="614022" y="465832"/>
                  <a:pt x="589926" y="475630"/>
                  <a:pt x="564838" y="483443"/>
                </a:cubicBezTo>
                <a:close/>
              </a:path>
            </a:pathLst>
          </a:custGeom>
          <a:solidFill>
            <a:srgbClr val="F5A623"/>
          </a:solidFill>
        </p:spPr>
      </p:sp>
      <p:sp>
        <p:nvSpPr>
          <p:cNvPr id="23" name="Text 21"/>
          <p:cNvSpPr/>
          <p:nvPr/>
        </p:nvSpPr>
        <p:spPr>
          <a:xfrm>
            <a:off x="8382000" y="5778500"/>
            <a:ext cx="4572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Larger Domain DB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36000" y="6286500"/>
            <a:ext cx="40640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Expand trusted domain whitelist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7620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kern="0" spc="100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Conclusion</a:t>
            </a:r>
          </a:p>
        </p:txBody>
      </p:sp>
      <p:sp>
        <p:nvSpPr>
          <p:cNvPr id="5" name="Text 3"/>
          <p:cNvSpPr/>
          <p:nvPr/>
        </p:nvSpPr>
        <p:spPr>
          <a:xfrm>
            <a:off x="0" y="1534160"/>
            <a:ext cx="15494000" cy="1503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800" b="1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PhishShield</a:t>
            </a:r>
            <a:r>
              <a:rPr lang="en-US" sz="2800" dirty="0">
                <a:solidFill>
                  <a:srgbClr val="E8ECF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provides a simple and effective solution for identifying phishing emails using four core techniques: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3048000"/>
            <a:ext cx="3302000" cy="2286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7" name="Shape 5"/>
          <p:cNvSpPr/>
          <p:nvPr/>
        </p:nvSpPr>
        <p:spPr>
          <a:xfrm>
            <a:off x="2032000" y="3302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79375"/>
                </a:moveTo>
                <a:cubicBezTo>
                  <a:pt x="186035" y="79375"/>
                  <a:pt x="79375" y="186035"/>
                  <a:pt x="79375" y="317500"/>
                </a:cubicBezTo>
                <a:cubicBezTo>
                  <a:pt x="79375" y="448965"/>
                  <a:pt x="186035" y="555625"/>
                  <a:pt x="317500" y="555625"/>
                </a:cubicBezTo>
                <a:cubicBezTo>
                  <a:pt x="339452" y="555625"/>
                  <a:pt x="357188" y="573360"/>
                  <a:pt x="357188" y="595313"/>
                </a:cubicBezTo>
                <a:cubicBezTo>
                  <a:pt x="357188" y="617265"/>
                  <a:pt x="339452" y="635000"/>
                  <a:pt x="317500" y="635000"/>
                </a:cubicBezTo>
                <a:cubicBezTo>
                  <a:pt x="142131" y="635000"/>
                  <a:pt x="0" y="492869"/>
                  <a:pt x="0" y="317500"/>
                </a:cubicBezTo>
                <a:cubicBezTo>
                  <a:pt x="0" y="142131"/>
                  <a:pt x="142131" y="0"/>
                  <a:pt x="317500" y="0"/>
                </a:cubicBezTo>
                <a:cubicBezTo>
                  <a:pt x="492869" y="0"/>
                  <a:pt x="635000" y="142131"/>
                  <a:pt x="635000" y="317500"/>
                </a:cubicBezTo>
                <a:lnTo>
                  <a:pt x="635000" y="357188"/>
                </a:lnTo>
                <a:cubicBezTo>
                  <a:pt x="635000" y="422920"/>
                  <a:pt x="581670" y="476250"/>
                  <a:pt x="515937" y="476250"/>
                </a:cubicBezTo>
                <a:cubicBezTo>
                  <a:pt x="479599" y="476250"/>
                  <a:pt x="446980" y="459879"/>
                  <a:pt x="425152" y="434206"/>
                </a:cubicBezTo>
                <a:cubicBezTo>
                  <a:pt x="396875" y="460251"/>
                  <a:pt x="359048" y="476250"/>
                  <a:pt x="317500" y="476250"/>
                </a:cubicBezTo>
                <a:cubicBezTo>
                  <a:pt x="229815" y="476250"/>
                  <a:pt x="158750" y="405185"/>
                  <a:pt x="158750" y="317500"/>
                </a:cubicBezTo>
                <a:cubicBezTo>
                  <a:pt x="158750" y="229815"/>
                  <a:pt x="229815" y="158750"/>
                  <a:pt x="317500" y="158750"/>
                </a:cubicBezTo>
                <a:cubicBezTo>
                  <a:pt x="352103" y="158750"/>
                  <a:pt x="384101" y="169788"/>
                  <a:pt x="410146" y="188640"/>
                </a:cubicBezTo>
                <a:cubicBezTo>
                  <a:pt x="417215" y="182438"/>
                  <a:pt x="426393" y="178594"/>
                  <a:pt x="436563" y="178594"/>
                </a:cubicBezTo>
                <a:cubicBezTo>
                  <a:pt x="458515" y="178594"/>
                  <a:pt x="476250" y="196329"/>
                  <a:pt x="476250" y="218281"/>
                </a:cubicBezTo>
                <a:lnTo>
                  <a:pt x="476250" y="357188"/>
                </a:lnTo>
                <a:cubicBezTo>
                  <a:pt x="476250" y="379140"/>
                  <a:pt x="493985" y="396875"/>
                  <a:pt x="515937" y="396875"/>
                </a:cubicBezTo>
                <a:cubicBezTo>
                  <a:pt x="537890" y="396875"/>
                  <a:pt x="555625" y="379140"/>
                  <a:pt x="555625" y="357188"/>
                </a:cubicBezTo>
                <a:lnTo>
                  <a:pt x="555625" y="317500"/>
                </a:lnTo>
                <a:cubicBezTo>
                  <a:pt x="555625" y="186035"/>
                  <a:pt x="448965" y="79375"/>
                  <a:pt x="317500" y="79375"/>
                </a:cubicBezTo>
                <a:close/>
                <a:moveTo>
                  <a:pt x="396875" y="317500"/>
                </a:moveTo>
                <a:cubicBezTo>
                  <a:pt x="396875" y="273692"/>
                  <a:pt x="361308" y="238125"/>
                  <a:pt x="317500" y="238125"/>
                </a:cubicBezTo>
                <a:cubicBezTo>
                  <a:pt x="273692" y="238125"/>
                  <a:pt x="238125" y="273692"/>
                  <a:pt x="238125" y="317500"/>
                </a:cubicBezTo>
                <a:cubicBezTo>
                  <a:pt x="238125" y="361308"/>
                  <a:pt x="273692" y="396875"/>
                  <a:pt x="317500" y="396875"/>
                </a:cubicBezTo>
                <a:cubicBezTo>
                  <a:pt x="361308" y="396875"/>
                  <a:pt x="396875" y="361308"/>
                  <a:pt x="396875" y="317500"/>
                </a:cubicBezTo>
                <a:close/>
              </a:path>
            </a:pathLst>
          </a:custGeom>
          <a:solidFill>
            <a:srgbClr val="E85D3F"/>
          </a:solidFill>
        </p:spPr>
      </p:sp>
      <p:sp>
        <p:nvSpPr>
          <p:cNvPr id="8" name="Text 6"/>
          <p:cNvSpPr/>
          <p:nvPr/>
        </p:nvSpPr>
        <p:spPr>
          <a:xfrm>
            <a:off x="762000" y="4127500"/>
            <a:ext cx="3302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Sender Verification</a:t>
            </a:r>
          </a:p>
        </p:txBody>
      </p:sp>
      <p:sp>
        <p:nvSpPr>
          <p:cNvPr id="9" name="Text 7"/>
          <p:cNvSpPr/>
          <p:nvPr/>
        </p:nvSpPr>
        <p:spPr>
          <a:xfrm>
            <a:off x="952500" y="4508500"/>
            <a:ext cx="2921000" cy="8566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Validates sender domain trust</a:t>
            </a:r>
          </a:p>
        </p:txBody>
      </p:sp>
      <p:sp>
        <p:nvSpPr>
          <p:cNvPr id="10" name="Shape 8"/>
          <p:cNvSpPr/>
          <p:nvPr/>
        </p:nvSpPr>
        <p:spPr>
          <a:xfrm>
            <a:off x="4572000" y="3048000"/>
            <a:ext cx="3302000" cy="2286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1" name="Shape 9"/>
          <p:cNvSpPr/>
          <p:nvPr/>
        </p:nvSpPr>
        <p:spPr>
          <a:xfrm>
            <a:off x="5842000" y="3302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0" y="79375"/>
                </a:moveTo>
                <a:cubicBezTo>
                  <a:pt x="0" y="35595"/>
                  <a:pt x="47460" y="0"/>
                  <a:pt x="105833" y="0"/>
                </a:cubicBezTo>
                <a:lnTo>
                  <a:pt x="353053" y="0"/>
                </a:lnTo>
                <a:cubicBezTo>
                  <a:pt x="381165" y="0"/>
                  <a:pt x="408120" y="8310"/>
                  <a:pt x="427964" y="23192"/>
                </a:cubicBezTo>
                <a:lnTo>
                  <a:pt x="604077" y="155401"/>
                </a:lnTo>
                <a:cubicBezTo>
                  <a:pt x="623921" y="170284"/>
                  <a:pt x="635000" y="190500"/>
                  <a:pt x="635000" y="211584"/>
                </a:cubicBezTo>
                <a:lnTo>
                  <a:pt x="635000" y="555625"/>
                </a:lnTo>
                <a:cubicBezTo>
                  <a:pt x="635000" y="599405"/>
                  <a:pt x="587540" y="635000"/>
                  <a:pt x="529167" y="635000"/>
                </a:cubicBezTo>
                <a:lnTo>
                  <a:pt x="105833" y="635000"/>
                </a:lnTo>
                <a:cubicBezTo>
                  <a:pt x="47460" y="635000"/>
                  <a:pt x="0" y="599405"/>
                  <a:pt x="0" y="555625"/>
                </a:cubicBezTo>
                <a:lnTo>
                  <a:pt x="0" y="79375"/>
                </a:lnTo>
                <a:close/>
                <a:moveTo>
                  <a:pt x="343958" y="72554"/>
                </a:moveTo>
                <a:lnTo>
                  <a:pt x="343958" y="188516"/>
                </a:lnTo>
                <a:cubicBezTo>
                  <a:pt x="343958" y="205011"/>
                  <a:pt x="361652" y="218281"/>
                  <a:pt x="383646" y="218281"/>
                </a:cubicBezTo>
                <a:lnTo>
                  <a:pt x="538262" y="218281"/>
                </a:lnTo>
                <a:lnTo>
                  <a:pt x="343958" y="72554"/>
                </a:lnTo>
                <a:close/>
                <a:moveTo>
                  <a:pt x="198438" y="317500"/>
                </a:moveTo>
                <a:cubicBezTo>
                  <a:pt x="176444" y="317500"/>
                  <a:pt x="158750" y="330771"/>
                  <a:pt x="158750" y="347266"/>
                </a:cubicBezTo>
                <a:cubicBezTo>
                  <a:pt x="158750" y="363761"/>
                  <a:pt x="176444" y="377031"/>
                  <a:pt x="198438" y="377031"/>
                </a:cubicBezTo>
                <a:lnTo>
                  <a:pt x="436563" y="377031"/>
                </a:lnTo>
                <a:cubicBezTo>
                  <a:pt x="458556" y="377031"/>
                  <a:pt x="476250" y="363761"/>
                  <a:pt x="476250" y="347266"/>
                </a:cubicBezTo>
                <a:cubicBezTo>
                  <a:pt x="476250" y="330771"/>
                  <a:pt x="458556" y="317500"/>
                  <a:pt x="436563" y="317500"/>
                </a:cubicBezTo>
                <a:lnTo>
                  <a:pt x="198438" y="317500"/>
                </a:lnTo>
                <a:close/>
                <a:moveTo>
                  <a:pt x="198438" y="436563"/>
                </a:moveTo>
                <a:cubicBezTo>
                  <a:pt x="176444" y="436563"/>
                  <a:pt x="158750" y="449833"/>
                  <a:pt x="158750" y="466328"/>
                </a:cubicBezTo>
                <a:cubicBezTo>
                  <a:pt x="158750" y="482823"/>
                  <a:pt x="176444" y="496094"/>
                  <a:pt x="198438" y="496094"/>
                </a:cubicBezTo>
                <a:lnTo>
                  <a:pt x="436563" y="496094"/>
                </a:lnTo>
                <a:cubicBezTo>
                  <a:pt x="458556" y="496094"/>
                  <a:pt x="476250" y="482823"/>
                  <a:pt x="476250" y="466328"/>
                </a:cubicBezTo>
                <a:cubicBezTo>
                  <a:pt x="476250" y="449833"/>
                  <a:pt x="458556" y="436563"/>
                  <a:pt x="436563" y="436563"/>
                </a:cubicBezTo>
                <a:lnTo>
                  <a:pt x="198438" y="436563"/>
                </a:lnTo>
                <a:close/>
              </a:path>
            </a:pathLst>
          </a:custGeom>
          <a:solidFill>
            <a:srgbClr val="E85D3F"/>
          </a:solidFill>
        </p:spPr>
      </p:sp>
      <p:sp>
        <p:nvSpPr>
          <p:cNvPr id="12" name="Text 10"/>
          <p:cNvSpPr/>
          <p:nvPr/>
        </p:nvSpPr>
        <p:spPr>
          <a:xfrm>
            <a:off x="4572000" y="4127500"/>
            <a:ext cx="3302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Keyword Detection</a:t>
            </a:r>
          </a:p>
        </p:txBody>
      </p:sp>
      <p:sp>
        <p:nvSpPr>
          <p:cNvPr id="13" name="Text 11"/>
          <p:cNvSpPr/>
          <p:nvPr/>
        </p:nvSpPr>
        <p:spPr>
          <a:xfrm>
            <a:off x="4448175" y="4635500"/>
            <a:ext cx="334137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Flags suspicious phrases</a:t>
            </a:r>
          </a:p>
        </p:txBody>
      </p:sp>
      <p:sp>
        <p:nvSpPr>
          <p:cNvPr id="14" name="Shape 12"/>
          <p:cNvSpPr/>
          <p:nvPr/>
        </p:nvSpPr>
        <p:spPr>
          <a:xfrm>
            <a:off x="8382000" y="3048000"/>
            <a:ext cx="3302000" cy="2286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5" name="Shape 13"/>
          <p:cNvSpPr/>
          <p:nvPr/>
        </p:nvSpPr>
        <p:spPr>
          <a:xfrm>
            <a:off x="9652000" y="3302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462470" y="119062"/>
                </a:moveTo>
                <a:cubicBezTo>
                  <a:pt x="444169" y="119062"/>
                  <a:pt x="426420" y="124644"/>
                  <a:pt x="410876" y="134813"/>
                </a:cubicBezTo>
                <a:cubicBezTo>
                  <a:pt x="393457" y="114970"/>
                  <a:pt x="373173" y="98351"/>
                  <a:pt x="350793" y="85824"/>
                </a:cubicBezTo>
                <a:cubicBezTo>
                  <a:pt x="381882" y="56059"/>
                  <a:pt x="421459" y="39688"/>
                  <a:pt x="462470" y="39688"/>
                </a:cubicBezTo>
                <a:cubicBezTo>
                  <a:pt x="557720" y="39688"/>
                  <a:pt x="635000" y="126504"/>
                  <a:pt x="635000" y="233784"/>
                </a:cubicBezTo>
                <a:cubicBezTo>
                  <a:pt x="635000" y="285254"/>
                  <a:pt x="616810" y="334615"/>
                  <a:pt x="584509" y="370954"/>
                </a:cubicBezTo>
                <a:lnTo>
                  <a:pt x="506126" y="459135"/>
                </a:lnTo>
                <a:cubicBezTo>
                  <a:pt x="473825" y="495474"/>
                  <a:pt x="429948" y="515938"/>
                  <a:pt x="384197" y="515938"/>
                </a:cubicBezTo>
                <a:cubicBezTo>
                  <a:pt x="288947" y="515938"/>
                  <a:pt x="211667" y="429121"/>
                  <a:pt x="211667" y="321841"/>
                </a:cubicBezTo>
                <a:cubicBezTo>
                  <a:pt x="211667" y="319980"/>
                  <a:pt x="211667" y="318120"/>
                  <a:pt x="211777" y="316260"/>
                </a:cubicBezTo>
                <a:cubicBezTo>
                  <a:pt x="212328" y="294308"/>
                  <a:pt x="228534" y="277068"/>
                  <a:pt x="248047" y="277688"/>
                </a:cubicBezTo>
                <a:cubicBezTo>
                  <a:pt x="267560" y="278309"/>
                  <a:pt x="282884" y="296540"/>
                  <a:pt x="282332" y="318492"/>
                </a:cubicBezTo>
                <a:cubicBezTo>
                  <a:pt x="282332" y="319608"/>
                  <a:pt x="282332" y="320725"/>
                  <a:pt x="282332" y="321717"/>
                </a:cubicBezTo>
                <a:cubicBezTo>
                  <a:pt x="282332" y="385093"/>
                  <a:pt x="327973" y="436438"/>
                  <a:pt x="384307" y="436438"/>
                </a:cubicBezTo>
                <a:cubicBezTo>
                  <a:pt x="411317" y="436438"/>
                  <a:pt x="437224" y="424408"/>
                  <a:pt x="456406" y="402828"/>
                </a:cubicBezTo>
                <a:lnTo>
                  <a:pt x="534789" y="314647"/>
                </a:lnTo>
                <a:cubicBezTo>
                  <a:pt x="553861" y="293191"/>
                  <a:pt x="564665" y="263922"/>
                  <a:pt x="564665" y="233536"/>
                </a:cubicBezTo>
                <a:cubicBezTo>
                  <a:pt x="564665" y="170160"/>
                  <a:pt x="519024" y="118814"/>
                  <a:pt x="462690" y="118814"/>
                </a:cubicBezTo>
                <a:close/>
                <a:moveTo>
                  <a:pt x="303389" y="214933"/>
                </a:moveTo>
                <a:cubicBezTo>
                  <a:pt x="301294" y="213940"/>
                  <a:pt x="299200" y="212576"/>
                  <a:pt x="297326" y="211088"/>
                </a:cubicBezTo>
                <a:cubicBezTo>
                  <a:pt x="283435" y="203026"/>
                  <a:pt x="267560" y="198438"/>
                  <a:pt x="250913" y="198438"/>
                </a:cubicBezTo>
                <a:cubicBezTo>
                  <a:pt x="223904" y="198438"/>
                  <a:pt x="197997" y="210468"/>
                  <a:pt x="178814" y="232048"/>
                </a:cubicBezTo>
                <a:lnTo>
                  <a:pt x="100431" y="320229"/>
                </a:lnTo>
                <a:cubicBezTo>
                  <a:pt x="81359" y="341685"/>
                  <a:pt x="70556" y="370954"/>
                  <a:pt x="70556" y="401340"/>
                </a:cubicBezTo>
                <a:cubicBezTo>
                  <a:pt x="70556" y="464716"/>
                  <a:pt x="116196" y="516062"/>
                  <a:pt x="172530" y="516062"/>
                </a:cubicBezTo>
                <a:cubicBezTo>
                  <a:pt x="190720" y="516062"/>
                  <a:pt x="208470" y="510604"/>
                  <a:pt x="224014" y="500435"/>
                </a:cubicBezTo>
                <a:cubicBezTo>
                  <a:pt x="241432" y="520278"/>
                  <a:pt x="261717" y="536897"/>
                  <a:pt x="284207" y="549424"/>
                </a:cubicBezTo>
                <a:cubicBezTo>
                  <a:pt x="253118" y="579065"/>
                  <a:pt x="213651" y="595561"/>
                  <a:pt x="172530" y="595561"/>
                </a:cubicBezTo>
                <a:cubicBezTo>
                  <a:pt x="77280" y="595561"/>
                  <a:pt x="0" y="508744"/>
                  <a:pt x="0" y="401464"/>
                </a:cubicBezTo>
                <a:cubicBezTo>
                  <a:pt x="0" y="349994"/>
                  <a:pt x="18190" y="300633"/>
                  <a:pt x="50491" y="264294"/>
                </a:cubicBezTo>
                <a:lnTo>
                  <a:pt x="128874" y="176113"/>
                </a:lnTo>
                <a:cubicBezTo>
                  <a:pt x="161175" y="139774"/>
                  <a:pt x="205052" y="119311"/>
                  <a:pt x="250803" y="119311"/>
                </a:cubicBezTo>
                <a:cubicBezTo>
                  <a:pt x="346273" y="119311"/>
                  <a:pt x="423333" y="206871"/>
                  <a:pt x="423333" y="313903"/>
                </a:cubicBezTo>
                <a:cubicBezTo>
                  <a:pt x="423333" y="315516"/>
                  <a:pt x="423333" y="317128"/>
                  <a:pt x="423333" y="318740"/>
                </a:cubicBezTo>
                <a:cubicBezTo>
                  <a:pt x="422892" y="340692"/>
                  <a:pt x="406687" y="357932"/>
                  <a:pt x="387174" y="357436"/>
                </a:cubicBezTo>
                <a:cubicBezTo>
                  <a:pt x="367661" y="356939"/>
                  <a:pt x="352337" y="338708"/>
                  <a:pt x="352778" y="316756"/>
                </a:cubicBezTo>
                <a:cubicBezTo>
                  <a:pt x="352778" y="315764"/>
                  <a:pt x="352778" y="314896"/>
                  <a:pt x="352778" y="313903"/>
                </a:cubicBezTo>
                <a:cubicBezTo>
                  <a:pt x="352778" y="272107"/>
                  <a:pt x="332934" y="235396"/>
                  <a:pt x="303389" y="215181"/>
                </a:cubicBezTo>
                <a:close/>
              </a:path>
            </a:pathLst>
          </a:custGeom>
          <a:solidFill>
            <a:srgbClr val="E85D3F"/>
          </a:solidFill>
        </p:spPr>
      </p:sp>
      <p:sp>
        <p:nvSpPr>
          <p:cNvPr id="16" name="Text 14"/>
          <p:cNvSpPr/>
          <p:nvPr/>
        </p:nvSpPr>
        <p:spPr>
          <a:xfrm>
            <a:off x="8382000" y="4127500"/>
            <a:ext cx="3302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Link Analysis</a:t>
            </a:r>
          </a:p>
        </p:txBody>
      </p:sp>
      <p:sp>
        <p:nvSpPr>
          <p:cNvPr id="17" name="Text 15"/>
          <p:cNvSpPr/>
          <p:nvPr/>
        </p:nvSpPr>
        <p:spPr>
          <a:xfrm>
            <a:off x="8572500" y="4635500"/>
            <a:ext cx="29210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Checks URL security</a:t>
            </a:r>
          </a:p>
        </p:txBody>
      </p:sp>
      <p:sp>
        <p:nvSpPr>
          <p:cNvPr id="18" name="Shape 16"/>
          <p:cNvSpPr/>
          <p:nvPr/>
        </p:nvSpPr>
        <p:spPr>
          <a:xfrm>
            <a:off x="12192000" y="3048000"/>
            <a:ext cx="3302000" cy="2286000"/>
          </a:xfrm>
          <a:prstGeom prst="rect">
            <a:avLst/>
          </a:prstGeom>
          <a:solidFill>
            <a:srgbClr val="1E2230"/>
          </a:solidFill>
        </p:spPr>
      </p:sp>
      <p:sp>
        <p:nvSpPr>
          <p:cNvPr id="19" name="Shape 17"/>
          <p:cNvSpPr/>
          <p:nvPr/>
        </p:nvSpPr>
        <p:spPr>
          <a:xfrm>
            <a:off x="13462000" y="3302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238125" y="99219"/>
                </a:moveTo>
                <a:cubicBezTo>
                  <a:pt x="238125" y="66353"/>
                  <a:pt x="264790" y="39688"/>
                  <a:pt x="297656" y="39688"/>
                </a:cubicBezTo>
                <a:lnTo>
                  <a:pt x="337344" y="39688"/>
                </a:lnTo>
                <a:cubicBezTo>
                  <a:pt x="370210" y="39688"/>
                  <a:pt x="396875" y="66353"/>
                  <a:pt x="396875" y="99219"/>
                </a:cubicBezTo>
                <a:lnTo>
                  <a:pt x="396875" y="535781"/>
                </a:lnTo>
                <a:cubicBezTo>
                  <a:pt x="396875" y="568647"/>
                  <a:pt x="370210" y="595313"/>
                  <a:pt x="337344" y="595313"/>
                </a:cubicBezTo>
                <a:lnTo>
                  <a:pt x="297656" y="595313"/>
                </a:lnTo>
                <a:cubicBezTo>
                  <a:pt x="264790" y="595313"/>
                  <a:pt x="238125" y="568647"/>
                  <a:pt x="238125" y="535781"/>
                </a:cubicBezTo>
                <a:lnTo>
                  <a:pt x="238125" y="99219"/>
                </a:lnTo>
                <a:close/>
                <a:moveTo>
                  <a:pt x="0" y="337344"/>
                </a:moveTo>
                <a:cubicBezTo>
                  <a:pt x="0" y="304478"/>
                  <a:pt x="26665" y="277813"/>
                  <a:pt x="59531" y="277813"/>
                </a:cubicBezTo>
                <a:lnTo>
                  <a:pt x="99219" y="277813"/>
                </a:lnTo>
                <a:cubicBezTo>
                  <a:pt x="132085" y="277813"/>
                  <a:pt x="158750" y="304478"/>
                  <a:pt x="158750" y="337344"/>
                </a:cubicBezTo>
                <a:lnTo>
                  <a:pt x="158750" y="535781"/>
                </a:lnTo>
                <a:cubicBezTo>
                  <a:pt x="158750" y="568647"/>
                  <a:pt x="132085" y="595313"/>
                  <a:pt x="99219" y="595313"/>
                </a:cubicBezTo>
                <a:lnTo>
                  <a:pt x="59531" y="595313"/>
                </a:lnTo>
                <a:cubicBezTo>
                  <a:pt x="26665" y="595313"/>
                  <a:pt x="0" y="568647"/>
                  <a:pt x="0" y="535781"/>
                </a:cubicBezTo>
                <a:lnTo>
                  <a:pt x="0" y="337344"/>
                </a:lnTo>
                <a:close/>
                <a:moveTo>
                  <a:pt x="535781" y="119062"/>
                </a:moveTo>
                <a:lnTo>
                  <a:pt x="575469" y="119062"/>
                </a:lnTo>
                <a:cubicBezTo>
                  <a:pt x="608335" y="119062"/>
                  <a:pt x="635000" y="145728"/>
                  <a:pt x="635000" y="178594"/>
                </a:cubicBezTo>
                <a:lnTo>
                  <a:pt x="635000" y="535781"/>
                </a:lnTo>
                <a:cubicBezTo>
                  <a:pt x="635000" y="568647"/>
                  <a:pt x="608335" y="595313"/>
                  <a:pt x="575469" y="595313"/>
                </a:cubicBezTo>
                <a:lnTo>
                  <a:pt x="535781" y="595313"/>
                </a:lnTo>
                <a:cubicBezTo>
                  <a:pt x="502915" y="595313"/>
                  <a:pt x="476250" y="568647"/>
                  <a:pt x="476250" y="535781"/>
                </a:cubicBezTo>
                <a:lnTo>
                  <a:pt x="476250" y="178594"/>
                </a:lnTo>
                <a:cubicBezTo>
                  <a:pt x="476250" y="145728"/>
                  <a:pt x="502915" y="119062"/>
                  <a:pt x="535781" y="119062"/>
                </a:cubicBezTo>
                <a:close/>
              </a:path>
            </a:pathLst>
          </a:custGeom>
          <a:solidFill>
            <a:srgbClr val="E85D3F"/>
          </a:solidFill>
        </p:spPr>
      </p:sp>
      <p:sp>
        <p:nvSpPr>
          <p:cNvPr id="20" name="Text 18"/>
          <p:cNvSpPr/>
          <p:nvPr/>
        </p:nvSpPr>
        <p:spPr>
          <a:xfrm>
            <a:off x="12192000" y="4127500"/>
            <a:ext cx="3302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Scoring</a:t>
            </a:r>
          </a:p>
        </p:txBody>
      </p:sp>
      <p:sp>
        <p:nvSpPr>
          <p:cNvPr id="21" name="Text 19"/>
          <p:cNvSpPr/>
          <p:nvPr/>
        </p:nvSpPr>
        <p:spPr>
          <a:xfrm>
            <a:off x="12382500" y="4635500"/>
            <a:ext cx="29210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Quantifies threat level</a:t>
            </a:r>
          </a:p>
        </p:txBody>
      </p:sp>
      <p:sp>
        <p:nvSpPr>
          <p:cNvPr id="22" name="Shape 20"/>
          <p:cNvSpPr/>
          <p:nvPr/>
        </p:nvSpPr>
        <p:spPr>
          <a:xfrm>
            <a:off x="5417820" y="5969000"/>
            <a:ext cx="7536180" cy="1016000"/>
          </a:xfrm>
          <a:prstGeom prst="rect">
            <a:avLst/>
          </a:prstGeom>
          <a:solidFill>
            <a:srgbClr val="0D1017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842000" y="6197600"/>
            <a:ext cx="508000" cy="493395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4ADE80"/>
          </a:solidFill>
        </p:spPr>
      </p:sp>
      <p:sp>
        <p:nvSpPr>
          <p:cNvPr id="24" name="Text 22"/>
          <p:cNvSpPr/>
          <p:nvPr/>
        </p:nvSpPr>
        <p:spPr>
          <a:xfrm>
            <a:off x="6703060" y="5969000"/>
            <a:ext cx="5742940" cy="98361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kern="0" spc="100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Result:</a:t>
            </a:r>
            <a:r>
              <a:rPr lang="en-US" sz="2400" kern="0" spc="100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Improved Email Security</a:t>
            </a:r>
            <a:endParaRPr lang="en-US" sz="24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zmvkr6r67x4wk/mnt/agents/output/phishshield/images/5_Guard_shield_Cyber_security_concept.png"/>
          <p:cNvPicPr>
            <a:picLocks noChangeAspect="1"/>
          </p:cNvPicPr>
          <p:nvPr/>
        </p:nvPicPr>
        <p:blipFill>
          <a:blip r:embed="rId3"/>
          <a:srcRect l="10000" r="10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51821">
                  <a:alpha val="60000"/>
                </a:srgbClr>
              </a:gs>
              <a:gs pos="40000">
                <a:srgbClr val="151821">
                  <a:alpha val="80000"/>
                </a:srgbClr>
              </a:gs>
              <a:gs pos="100000">
                <a:srgbClr val="151821">
                  <a:alpha val="94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7493000" y="2032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635000" y="0"/>
                </a:moveTo>
                <a:cubicBezTo>
                  <a:pt x="646410" y="0"/>
                  <a:pt x="657820" y="2480"/>
                  <a:pt x="668238" y="7193"/>
                </a:cubicBezTo>
                <a:lnTo>
                  <a:pt x="1135559" y="205383"/>
                </a:lnTo>
                <a:cubicBezTo>
                  <a:pt x="1190129" y="228451"/>
                  <a:pt x="1230809" y="282277"/>
                  <a:pt x="1230561" y="347266"/>
                </a:cubicBezTo>
                <a:cubicBezTo>
                  <a:pt x="1229320" y="593328"/>
                  <a:pt x="1128117" y="1043533"/>
                  <a:pt x="700732" y="1248172"/>
                </a:cubicBezTo>
                <a:cubicBezTo>
                  <a:pt x="659309" y="1268016"/>
                  <a:pt x="611188" y="1268016"/>
                  <a:pt x="569764" y="1248172"/>
                </a:cubicBezTo>
                <a:cubicBezTo>
                  <a:pt x="142131" y="1043533"/>
                  <a:pt x="41176" y="593328"/>
                  <a:pt x="39936" y="347266"/>
                </a:cubicBezTo>
                <a:cubicBezTo>
                  <a:pt x="39687" y="282277"/>
                  <a:pt x="80367" y="228451"/>
                  <a:pt x="134937" y="205383"/>
                </a:cubicBezTo>
                <a:lnTo>
                  <a:pt x="602010" y="7193"/>
                </a:lnTo>
                <a:cubicBezTo>
                  <a:pt x="612428" y="2480"/>
                  <a:pt x="623590" y="0"/>
                  <a:pt x="635000" y="0"/>
                </a:cubicBezTo>
                <a:close/>
                <a:moveTo>
                  <a:pt x="635000" y="165695"/>
                </a:moveTo>
                <a:lnTo>
                  <a:pt x="635000" y="1103561"/>
                </a:lnTo>
                <a:cubicBezTo>
                  <a:pt x="977305" y="937865"/>
                  <a:pt x="1069330" y="570756"/>
                  <a:pt x="1071563" y="350986"/>
                </a:cubicBezTo>
                <a:lnTo>
                  <a:pt x="635000" y="165943"/>
                </a:lnTo>
                <a:lnTo>
                  <a:pt x="635000" y="165943"/>
                </a:lnTo>
                <a:close/>
              </a:path>
            </a:pathLst>
          </a:custGeom>
          <a:solidFill>
            <a:srgbClr val="E85D3F"/>
          </a:solidFill>
        </p:spPr>
      </p:sp>
      <p:sp>
        <p:nvSpPr>
          <p:cNvPr id="5" name="Text 2"/>
          <p:cNvSpPr/>
          <p:nvPr/>
        </p:nvSpPr>
        <p:spPr>
          <a:xfrm>
            <a:off x="3048000" y="3556000"/>
            <a:ext cx="10160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000" b="1" kern="0" spc="400" dirty="0">
                <a:solidFill>
                  <a:srgbClr val="E8EC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THANK YOU</a:t>
            </a:r>
            <a:endParaRPr lang="en-US" sz="50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6*115"/>
  <p:tag name="TABLE_ENDDRAG_RECT" val="192*20*896*115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725</Words>
  <Application>Microsoft Office PowerPoint</Application>
  <PresentationFormat>Custom</PresentationFormat>
  <Paragraphs>201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Liter</vt:lpstr>
      <vt:lpstr>Quattrocento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PhishShield: Email Phishing Detection System</dc:title>
  <dc:subject>PhishShield: Email Phishing Detection System</dc:subject>
  <dc:creator>Kimi</dc:creator>
  <cp:lastModifiedBy>fariya tisha</cp:lastModifiedBy>
  <cp:revision>4</cp:revision>
  <dcterms:created xsi:type="dcterms:W3CDTF">2026-06-15T16:54:00Z</dcterms:created>
  <dcterms:modified xsi:type="dcterms:W3CDTF">2026-07-14T01:20:20Z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{"Label":"PhishShield: Email Phishing Detection System","ContentProducer":"001191110108MACG2KBH8F10000","ProduceID":"19ecc1ed-2882-8a62-8000-00008d28ecb6","ReservedCode1":"","ContentPropagator":"001191110108MACG2KBH8F20000","PropagateID":"19ecc1cb-9642-84ca-8000-0917d59f6144","ReservedCode2":""}</vt:lpwstr>
  </property>
  <property fmtid="{D5CDD505-2E9C-101B-9397-08002B2CF9AE}" pid="3" name="KSOProductBuildVer">
    <vt:lpwstr>1033-12.1.0.26880</vt:lpwstr>
  </property>
  <property fmtid="{D5CDD505-2E9C-101B-9397-08002B2CF9AE}" pid="4" name="ICV">
    <vt:lpwstr>EE41BFF780624E9BA6B50787B7191D42_13</vt:lpwstr>
  </property>
</Properties>
</file>